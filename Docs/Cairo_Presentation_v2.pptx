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3228" autoAdjust="0"/>
  </p:normalViewPr>
  <p:slideViewPr>
    <p:cSldViewPr snapToGrid="0" snapToObjects="1">
      <p:cViewPr varScale="1">
        <p:scale>
          <a:sx n="107" d="100"/>
          <a:sy n="107" d="100"/>
        </p:scale>
        <p:origin x="739" y="3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17799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my name is Maria Aguilar and today I'm presenting Cairo — my capstone project for UCI 2123. Cairo is a project management web application, similar to Jira, that I built completely from scratch in 7 days using React on the frontend and Spring Boot on the backend with a MySQL database."</a:t>
            </a:r>
          </a:p>
          <a:p>
            <a:r>
              <a:rPr lang="en-US" i="1" dirty="0"/>
              <a:t>Point to the fun fact card:</a:t>
            </a:r>
            <a:endParaRPr lang="en-US" dirty="0"/>
          </a:p>
          <a:p>
            <a:r>
              <a:rPr lang="en-US" dirty="0"/>
              <a:t>"I named it Cairo after my son. His name means 'The Victorious' in Arabic — and I thought that was fitting for a capstone project. I also did some research and found out that Jira is actually short for Gojira, which is the Japanese name for Godzilla. So I built a project management tool named after my victorious son to take on Godzilla."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I'm solving is that tools like Jira are expensive and overwhelming for beginners. Teams pay $8 to $15 per person every month. The setup is complicated. And if you've never used a project management tool before, Jira can feel like too much all at once."</a:t>
            </a:r>
          </a:p>
          <a:p>
            <a:r>
              <a:rPr lang="en-US" dirty="0"/>
              <a:t>"Cairo fixes that. It's completely free, self-hosted, and simple by design. My vision for Cairo is that it could be used in coding bootcamps and university programs — like this one — as a starting point. You learn the core concepts: sprints, Kanban boards, issue tracking, team collaboration. You get comfortable with how project management actually works. Then when you go into industry and use Jira or similar tools, you already understand the fundamentals. Cairo is the stepping stone."</a:t>
            </a:r>
          </a:p>
          <a:p>
            <a:r>
              <a:rPr lang="en-US" dirty="0"/>
              <a:t>"On top of that — it's self-hosted, so your data never leaves your own machine, and the README gets you running in minutes.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Cairo is split into three layers — the frontend, the backend, and the database. Let me walk through each one."</a:t>
            </a:r>
          </a:p>
          <a:p>
            <a:r>
              <a:rPr lang="en-US" i="1" dirty="0"/>
              <a:t>Point to Frontend:</a:t>
            </a:r>
            <a:endParaRPr lang="en-US" dirty="0"/>
          </a:p>
          <a:p>
            <a:r>
              <a:rPr lang="en-US" dirty="0"/>
              <a:t>"The frontend is built with React 18 and Vite. React is a JavaScript library for building user interfaces. Vite is the tool that runs and builds the project. I used React Router to handle navigation between 10 pages. Three are public — the homepage, login, and register. The other seven are protected, meaning you have to be logged in to access them. If you try to visit a protected page without being logged in, React Router automatically redirects you to the login page. There's also an Admin Panel page that's only visible in the sidebar when your account has the ADMIN role.</a:t>
            </a:r>
          </a:p>
          <a:p>
            <a:r>
              <a:rPr lang="en-US" i="1" dirty="0"/>
              <a:t>Point to Backend:</a:t>
            </a:r>
            <a:endParaRPr lang="en-US" dirty="0"/>
          </a:p>
          <a:p>
            <a:r>
              <a:rPr lang="en-US" dirty="0"/>
              <a:t>"The backend is built with Spring Boot, which is a Java framework for building REST APIs. A REST API is basically a set of URLs that the frontend calls to get or save data. I have 7 controllers — one for each major feature: authentication, users, projects, sprints, issues, comments, and notifications. Each controller talks to a service layer, which is where all the business logic lives. I also built a Global Exception Handler, which means whenever something goes wrong, the API always returns a clear error message with the right error code instead of just crashing."</a:t>
            </a:r>
          </a:p>
          <a:p>
            <a:r>
              <a:rPr lang="en-US" i="1" dirty="0"/>
              <a:t>Point to Database:</a:t>
            </a:r>
            <a:endParaRPr lang="en-US" dirty="0"/>
          </a:p>
          <a:p>
            <a:r>
              <a:rPr lang="en-US" dirty="0"/>
              <a:t>"The database is MySQL. I designed 10 tables before I wrote a single line of code. The tables store everything — users, projects, sprints, issues, comments, and a history of every change made to an issue."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database diagram I designed using a tool called </a:t>
            </a:r>
            <a:r>
              <a:rPr lang="en-US" dirty="0" err="1"/>
              <a:t>DrawSQL</a:t>
            </a:r>
            <a:r>
              <a:rPr lang="en-US" dirty="0"/>
              <a:t>. Each box is a table and the lines between them show how they're connected. The most important table is issues — it connects to projects, sprints, the user who created it, and the user it's assigned to. It also connects to comments, labels, and the history table that tracks every status change. I built this diagram on Day 1 and it saved me a lot of time because I never had to go back and change the database structure</a:t>
            </a:r>
            <a:endParaRPr lang="en-US" i="0" u="none"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started building, I defined 12 user stories. A user story is a description of a feature from the perspective of the person using it. For example — 'As a developer, I want to create an issue so I can track work— Developer(User), Project Manager(Admin). </a:t>
            </a:r>
          </a:p>
          <a:p>
            <a:endParaRPr lang="en-US" dirty="0"/>
          </a:p>
          <a:p>
            <a:r>
              <a:rPr lang="en-US" dirty="0"/>
              <a:t>"Developers can create and update issues, assign them to teammates, comment on them, and receive notifications when something changes. Project Managers can create projects, add team members, manage sprints through their full lifecycle — pending, active, completed — and view the Kanban board. Admins can register users, assign roles, and remove members from projects."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Login first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the most interesting piece of code I wrote — this is the status update method in my </a:t>
            </a:r>
            <a:r>
              <a:rPr lang="en-US" dirty="0" err="1"/>
              <a:t>IssueService</a:t>
            </a:r>
            <a:r>
              <a:rPr lang="en-US" dirty="0"/>
              <a:t> class. Let me break it down step by step because there's a lot happening here."</a:t>
            </a:r>
          </a:p>
          <a:p>
            <a:r>
              <a:rPr lang="en-US" i="1" dirty="0"/>
              <a:t>Point to the method signature at the top:</a:t>
            </a:r>
            <a:endParaRPr lang="en-US" dirty="0"/>
          </a:p>
          <a:p>
            <a:r>
              <a:rPr lang="en-US" dirty="0"/>
              <a:t>"This method is called </a:t>
            </a:r>
            <a:r>
              <a:rPr lang="en-US" sz="1200" kern="1200" dirty="0" err="1">
                <a:solidFill>
                  <a:schemeClr val="tx1"/>
                </a:solidFill>
                <a:latin typeface="+mn-lt"/>
                <a:ea typeface="+mn-ea"/>
                <a:cs typeface="+mn-cs"/>
              </a:rPr>
              <a:t>updateStatus</a:t>
            </a:r>
            <a:r>
              <a:rPr lang="en-US" dirty="0"/>
              <a:t>. It takes three things — the ID of the issue being updated, the new status we want to set it to, and the user who is making the change. In Java, </a:t>
            </a:r>
            <a:r>
              <a:rPr lang="en-US" sz="1200" kern="1200" dirty="0">
                <a:solidFill>
                  <a:schemeClr val="tx1"/>
                </a:solidFill>
                <a:latin typeface="+mn-lt"/>
                <a:ea typeface="+mn-ea"/>
                <a:cs typeface="+mn-cs"/>
              </a:rPr>
              <a:t>Long</a:t>
            </a:r>
            <a:r>
              <a:rPr lang="en-US" dirty="0"/>
              <a:t> just means a number — it's the ID. </a:t>
            </a:r>
            <a:r>
              <a:rPr lang="en-US" sz="1200" kern="1200" dirty="0" err="1">
                <a:solidFill>
                  <a:schemeClr val="tx1"/>
                </a:solidFill>
                <a:latin typeface="+mn-lt"/>
                <a:ea typeface="+mn-ea"/>
                <a:cs typeface="+mn-cs"/>
              </a:rPr>
              <a:t>IssueStatus</a:t>
            </a:r>
            <a:r>
              <a:rPr lang="en-US" dirty="0"/>
              <a:t> is an </a:t>
            </a:r>
            <a:r>
              <a:rPr lang="en-US" dirty="0" err="1"/>
              <a:t>enum</a:t>
            </a:r>
            <a:r>
              <a:rPr lang="en-US" dirty="0"/>
              <a:t>, which means it can only be one of four specific values: TODO, IN_PROGRESS, IN_REVIEW, or DONE."</a:t>
            </a:r>
          </a:p>
          <a:p>
            <a:r>
              <a:rPr lang="en-US" i="1" dirty="0"/>
              <a:t>Point to the first comment block:</a:t>
            </a:r>
            <a:endParaRPr lang="en-US" dirty="0"/>
          </a:p>
          <a:p>
            <a:r>
              <a:rPr lang="en-US" dirty="0"/>
              <a:t>"The first thing this method does — before changing anything — is write a record to a table called </a:t>
            </a:r>
            <a:r>
              <a:rPr lang="en-US" dirty="0" err="1"/>
              <a:t>issue_history</a:t>
            </a:r>
            <a:r>
              <a:rPr lang="en-US" dirty="0"/>
              <a:t>. Think of it like a diary entry. It records what field changed — in this case 'status' — what the old value was, what the new value is, who made the change, and when. The reason I save this FIRST is because if anything goes wrong later, the whole transaction rolls back together. Nothing gets saved halfway."</a:t>
            </a:r>
          </a:p>
          <a:p>
            <a:r>
              <a:rPr lang="en-US" i="1" dirty="0"/>
              <a:t>Point to the second block:</a:t>
            </a:r>
            <a:endParaRPr lang="en-US" dirty="0"/>
          </a:p>
          <a:p>
            <a:r>
              <a:rPr lang="en-US" dirty="0"/>
              <a:t>"Then I actually update the status on the issue and save it to the database."</a:t>
            </a:r>
          </a:p>
          <a:p>
            <a:r>
              <a:rPr lang="en-US" i="1" dirty="0"/>
              <a:t>Point to the third block:</a:t>
            </a:r>
            <a:endParaRPr lang="en-US" dirty="0"/>
          </a:p>
          <a:p>
            <a:r>
              <a:rPr lang="en-US" dirty="0"/>
              <a:t>"The last thing I do is send a notification — but only under a specific condition. I check whether the issue has an assignee. Then I check whether the person who made the change is a different person from the assignee. If someone else moved your issue, you get notified. But if you moved your own issue, you don't get a notification — because that would be annoying. That was a deliberate design decision I made."</a:t>
            </a:r>
          </a:p>
          <a:p>
            <a:r>
              <a:rPr lang="en-US" i="1" dirty="0"/>
              <a:t>Point to the four cards on the right:</a:t>
            </a:r>
            <a:endParaRPr lang="en-US" dirty="0"/>
          </a:p>
          <a:p>
            <a:r>
              <a:rPr lang="en-US" dirty="0"/>
              <a:t>"This one method shows four things I'm really proud of. First — the audit trail. Every status change is permanently recorded. Second — smart notifications that only fire when they're actually useful. Third — role-based guards that check if you have permission before allowing sensitive actions.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explain how logging in works. When you send your email and password to the login endpoint, the password gets checked against a hashed version stored in the database using something called </a:t>
            </a:r>
            <a:r>
              <a:rPr lang="en-US" dirty="0" err="1"/>
              <a:t>BCrypt</a:t>
            </a:r>
            <a:r>
              <a:rPr lang="en-US" dirty="0"/>
              <a:t>. Hashing means the password is scrambled in a one-way process — so even if someone got into the database, they couldn't read anyone's password. If the password matches, the server creates a JWT token and sends it back to you."</a:t>
            </a:r>
          </a:p>
          <a:p>
            <a:r>
              <a:rPr lang="en-US" dirty="0"/>
              <a:t>"JWT stands for JSON Web Token. Think of it like a wristband at an event — once you have it, you show it with every request you make, and the server knows who you are without having to check the database every time. The token expires after 24 hours."</a:t>
            </a:r>
          </a:p>
          <a:p>
            <a:r>
              <a:rPr lang="en-US" i="1" dirty="0"/>
              <a:t>Point to the security grid:</a:t>
            </a:r>
            <a:endParaRPr lang="en-US" dirty="0"/>
          </a:p>
          <a:p>
            <a:r>
              <a:rPr lang="en-US" dirty="0"/>
              <a:t>"On the security side — passwords are always hashed, never stored in plain text. The JWT is stateless, meaning the server doesn't store any session information. CORS is configured to only allow requests from my frontend. I also added rate limiting on the login endpoint — if someone tries to log in more than 10 times in a minute, they get blocked. This prevents brute force attacks where someone writes a script to guess your password thousands of times."</a:t>
            </a:r>
          </a:p>
          <a:p>
            <a:r>
              <a:rPr lang="en-US" i="1" dirty="0"/>
              <a:t>Point to the setup grid:</a:t>
            </a:r>
            <a:endParaRPr lang="en-US" dirty="0"/>
          </a:p>
          <a:p>
            <a:r>
              <a:rPr lang="en-US" dirty="0"/>
              <a:t>"For local setup — MySQL runs on port 3306, the database schema is in a file called </a:t>
            </a:r>
            <a:r>
              <a:rPr lang="en-US" dirty="0" err="1"/>
              <a:t>Cairo.sql</a:t>
            </a:r>
            <a:r>
              <a:rPr lang="en-US" dirty="0"/>
              <a:t>, and I have seed data in </a:t>
            </a:r>
            <a:r>
              <a:rPr lang="en-US" dirty="0" err="1"/>
              <a:t>seed.sql</a:t>
            </a:r>
            <a:r>
              <a:rPr lang="en-US" dirty="0"/>
              <a:t> that pre-loads 4 users and 14 issues so the app has real data to demo. You start the backend with one Maven command and the frontend with </a:t>
            </a:r>
            <a:r>
              <a:rPr lang="en-US" dirty="0" err="1"/>
              <a:t>npm</a:t>
            </a:r>
            <a:r>
              <a:rPr lang="en-US" dirty="0"/>
              <a:t> run dev.</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share three lessons I took away from this build."</a:t>
            </a:r>
          </a:p>
          <a:p>
            <a:r>
              <a:rPr lang="en-US" dirty="0"/>
              <a:t>"</a:t>
            </a:r>
            <a:r>
              <a:rPr lang="en-US" b="1" dirty="0"/>
              <a:t>First — design your database before you write code.</a:t>
            </a:r>
            <a:r>
              <a:rPr lang="en-US" dirty="0"/>
              <a:t> I spent Day 1 drawing out the full database diagram before touching any code. Because of that, I never had to change a single table during the entire build. Honestly I'm used to just figuring things out as I go — but designing first helped me stay organized and keep everything simple and to the point. It's a habit I'm taking with me."</a:t>
            </a:r>
          </a:p>
          <a:p>
            <a:r>
              <a:rPr lang="en-US" dirty="0"/>
              <a:t>"</a:t>
            </a:r>
            <a:r>
              <a:rPr lang="en-US" b="1" dirty="0"/>
              <a:t>Second — handle your errors properly.</a:t>
            </a:r>
            <a:r>
              <a:rPr lang="en-US" dirty="0"/>
              <a:t> When someone typed the wrong password, my app was returning a 500 Internal Server Error instead of a 401 Unauthorized. A 500 means the server crashed — which is confusing and looks unprofessional. One extra exception handler fixed it and made the API respond correctly. Small fix, big difference."</a:t>
            </a:r>
          </a:p>
          <a:p>
            <a:r>
              <a:rPr lang="en-US" dirty="0"/>
              <a:t>"</a:t>
            </a:r>
            <a:r>
              <a:rPr lang="en-US" b="1" dirty="0"/>
              <a:t>Third — when a tool fails, build it yourself.</a:t>
            </a:r>
            <a:r>
              <a:rPr lang="en-US" dirty="0"/>
              <a:t> The animation library I was supposed to use for the background on my login page wouldn't install. So I wrote the entire animation from scratch using the HTML canvas. That turned out to be the better outcome — because now I understand every single line of it and I own it completely.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feature I most want to add is an AI assistant. The idea is that instead of a project manager manually sorting through the backlog and deciding what goes into the next sprint, an AI would </a:t>
            </a:r>
            <a:r>
              <a:rPr lang="en-US" dirty="0" err="1"/>
              <a:t>analyse</a:t>
            </a:r>
            <a:r>
              <a:rPr lang="en-US" dirty="0"/>
              <a:t> the history of the project — how long things actually take, who finishes work fastest, what's been sitting unfinished the longest — and make recommendations automatically. It could also generate a stand-up summary by just reading the issue history, which would save teams a lot of time."</a:t>
            </a:r>
          </a:p>
          <a:p>
            <a:r>
              <a:rPr lang="en-US" dirty="0"/>
              <a:t>Beyond that I'd want to add a mobile app, real-time notifications using </a:t>
            </a:r>
            <a:r>
              <a:rPr lang="en-US" dirty="0" err="1"/>
              <a:t>WebSockets</a:t>
            </a:r>
            <a:r>
              <a:rPr lang="en-US" dirty="0"/>
              <a:t> instead of the polling I'm doing now, analytics dashboards, and integrations with tools like GitHub and Slack.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Cairo. A full-stack project management application built in 7 days, named after my son, designed to replace Godzilla. I'm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F"/>
        </a:solidFill>
        <a:effectLst/>
      </p:bgPr>
    </p:bg>
    <p:spTree>
      <p:nvGrpSpPr>
        <p:cNvPr id="1" name=""/>
        <p:cNvGrpSpPr/>
        <p:nvPr/>
      </p:nvGrpSpPr>
      <p:grpSpPr>
        <a:xfrm>
          <a:off x="0" y="0"/>
          <a:ext cx="0" cy="0"/>
          <a:chOff x="0" y="0"/>
          <a:chExt cx="0" cy="0"/>
        </a:xfrm>
      </p:grpSpPr>
      <p:sp>
        <p:nvSpPr>
          <p:cNvPr id="2" name="Shape 0"/>
          <p:cNvSpPr/>
          <p:nvPr/>
        </p:nvSpPr>
        <p:spPr>
          <a:xfrm>
            <a:off x="0" y="0"/>
            <a:ext cx="3840480" cy="5143500"/>
          </a:xfrm>
          <a:prstGeom prst="rect">
            <a:avLst/>
          </a:prstGeom>
          <a:solidFill>
            <a:srgbClr val="0B0D1A"/>
          </a:solidFill>
          <a:ln w="12700">
            <a:solidFill>
              <a:srgbClr val="0B0D1A"/>
            </a:solidFill>
            <a:prstDash val="solid"/>
          </a:ln>
        </p:spPr>
        <p:txBody>
          <a:bodyPr/>
          <a:lstStyle/>
          <a:p>
            <a:endParaRPr lang="en-US"/>
          </a:p>
        </p:txBody>
      </p:sp>
      <p:sp>
        <p:nvSpPr>
          <p:cNvPr id="3" name="Shape 1"/>
          <p:cNvSpPr/>
          <p:nvPr/>
        </p:nvSpPr>
        <p:spPr>
          <a:xfrm>
            <a:off x="2286000" y="2400300"/>
            <a:ext cx="2743200" cy="2743200"/>
          </a:xfrm>
          <a:prstGeom prst="ellipse">
            <a:avLst/>
          </a:prstGeom>
          <a:solidFill>
            <a:srgbClr val="19D9EF">
              <a:alpha val="8000"/>
            </a:srgbClr>
          </a:solidFill>
          <a:ln w="12700">
            <a:solidFill>
              <a:srgbClr val="19D9EF">
                <a:alpha val="8000"/>
              </a:srgbClr>
            </a:solidFill>
            <a:prstDash val="solid"/>
          </a:ln>
        </p:spPr>
        <p:txBody>
          <a:bodyPr/>
          <a:lstStyle/>
          <a:p>
            <a:endParaRPr lang="en-US"/>
          </a:p>
        </p:txBody>
      </p:sp>
      <p:sp>
        <p:nvSpPr>
          <p:cNvPr id="4" name="Shape 2"/>
          <p:cNvSpPr/>
          <p:nvPr/>
        </p:nvSpPr>
        <p:spPr>
          <a:xfrm>
            <a:off x="5486400" y="0"/>
            <a:ext cx="3657600" cy="3657600"/>
          </a:xfrm>
          <a:prstGeom prst="ellipse">
            <a:avLst/>
          </a:prstGeom>
          <a:solidFill>
            <a:srgbClr val="5F80F9">
              <a:alpha val="10000"/>
            </a:srgbClr>
          </a:solidFill>
          <a:ln w="12700">
            <a:solidFill>
              <a:srgbClr val="5F80F9">
                <a:alpha val="10000"/>
              </a:srgbClr>
            </a:solidFill>
            <a:prstDash val="solid"/>
          </a:ln>
        </p:spPr>
        <p:txBody>
          <a:bodyPr/>
          <a:lstStyle/>
          <a:p>
            <a:endParaRPr lang="en-US"/>
          </a:p>
        </p:txBody>
      </p:sp>
      <p:sp>
        <p:nvSpPr>
          <p:cNvPr id="5" name="Shape 3"/>
          <p:cNvSpPr/>
          <p:nvPr/>
        </p:nvSpPr>
        <p:spPr>
          <a:xfrm>
            <a:off x="411480" y="502920"/>
            <a:ext cx="502920" cy="502920"/>
          </a:xfrm>
          <a:prstGeom prst="roundRect">
            <a:avLst>
              <a:gd name="adj" fmla="val 14545"/>
            </a:avLst>
          </a:prstGeom>
          <a:solidFill>
            <a:srgbClr val="3529D0"/>
          </a:solidFill>
          <a:ln w="12700">
            <a:solidFill>
              <a:srgbClr val="19D9EF"/>
            </a:solidFill>
            <a:prstDash val="solid"/>
          </a:ln>
        </p:spPr>
        <p:txBody>
          <a:bodyPr/>
          <a:lstStyle/>
          <a:p>
            <a:endParaRPr lang="en-US"/>
          </a:p>
        </p:txBody>
      </p:sp>
      <p:sp>
        <p:nvSpPr>
          <p:cNvPr id="6" name="Text 4"/>
          <p:cNvSpPr/>
          <p:nvPr/>
        </p:nvSpPr>
        <p:spPr>
          <a:xfrm>
            <a:off x="411480" y="502920"/>
            <a:ext cx="502920" cy="502920"/>
          </a:xfrm>
          <a:prstGeom prst="rect">
            <a:avLst/>
          </a:prstGeom>
          <a:noFill/>
          <a:ln/>
        </p:spPr>
        <p:txBody>
          <a:bodyPr wrap="square" lIns="0" tIns="0" rIns="0" bIns="0" rtlCol="0" anchor="ctr"/>
          <a:lstStyle/>
          <a:p>
            <a:pPr marL="0" indent="0" algn="ctr">
              <a:buNone/>
            </a:pPr>
            <a:r>
              <a:rPr lang="en-US" sz="1800" b="1" dirty="0">
                <a:solidFill>
                  <a:srgbClr val="19D9EF"/>
                </a:solidFill>
              </a:rPr>
              <a:t>C</a:t>
            </a:r>
            <a:endParaRPr lang="en-US" sz="1800" dirty="0"/>
          </a:p>
        </p:txBody>
      </p:sp>
      <p:sp>
        <p:nvSpPr>
          <p:cNvPr id="7" name="Text 5"/>
          <p:cNvSpPr/>
          <p:nvPr/>
        </p:nvSpPr>
        <p:spPr>
          <a:xfrm>
            <a:off x="384048" y="1188720"/>
            <a:ext cx="3108960" cy="1188720"/>
          </a:xfrm>
          <a:prstGeom prst="rect">
            <a:avLst/>
          </a:prstGeom>
          <a:noFill/>
          <a:ln/>
        </p:spPr>
        <p:txBody>
          <a:bodyPr wrap="square" lIns="0" tIns="0" rIns="0" bIns="0" rtlCol="0" anchor="ctr"/>
          <a:lstStyle/>
          <a:p>
            <a:pPr marL="0" indent="0">
              <a:buNone/>
            </a:pPr>
            <a:r>
              <a:rPr lang="en-US" sz="7200" b="1" kern="0" spc="600" dirty="0">
                <a:solidFill>
                  <a:srgbClr val="FFFFFF"/>
                </a:solidFill>
                <a:latin typeface="Calibri" pitchFamily="34" charset="0"/>
                <a:ea typeface="Calibri" pitchFamily="34" charset="-122"/>
                <a:cs typeface="Calibri" pitchFamily="34" charset="-120"/>
              </a:rPr>
              <a:t>Cairo</a:t>
            </a:r>
            <a:endParaRPr lang="en-US" sz="7200" dirty="0"/>
          </a:p>
        </p:txBody>
      </p:sp>
      <p:sp>
        <p:nvSpPr>
          <p:cNvPr id="8" name="Text 6"/>
          <p:cNvSpPr/>
          <p:nvPr/>
        </p:nvSpPr>
        <p:spPr>
          <a:xfrm>
            <a:off x="384048" y="2423160"/>
            <a:ext cx="3108960" cy="384048"/>
          </a:xfrm>
          <a:prstGeom prst="rect">
            <a:avLst/>
          </a:prstGeom>
          <a:noFill/>
          <a:ln/>
        </p:spPr>
        <p:txBody>
          <a:bodyPr wrap="square" lIns="0" tIns="0" rIns="0" bIns="0" rtlCol="0" anchor="ctr"/>
          <a:lstStyle/>
          <a:p>
            <a:pPr marL="0" indent="0">
              <a:buNone/>
            </a:pPr>
            <a:r>
              <a:rPr lang="en-US" sz="1600" dirty="0">
                <a:solidFill>
                  <a:srgbClr val="19D9EF"/>
                </a:solidFill>
                <a:latin typeface="Calibri" pitchFamily="34" charset="0"/>
                <a:ea typeface="Calibri" pitchFamily="34" charset="-122"/>
                <a:cs typeface="Calibri" pitchFamily="34" charset="-120"/>
              </a:rPr>
              <a:t>Project Management</a:t>
            </a:r>
            <a:endParaRPr lang="en-US" sz="1600" dirty="0"/>
          </a:p>
        </p:txBody>
      </p:sp>
      <p:sp>
        <p:nvSpPr>
          <p:cNvPr id="9" name="Text 7"/>
          <p:cNvSpPr/>
          <p:nvPr/>
        </p:nvSpPr>
        <p:spPr>
          <a:xfrm>
            <a:off x="384048" y="2788920"/>
            <a:ext cx="3108960" cy="320040"/>
          </a:xfrm>
          <a:prstGeom prst="rect">
            <a:avLst/>
          </a:prstGeom>
          <a:noFill/>
          <a:ln/>
        </p:spPr>
        <p:txBody>
          <a:bodyPr wrap="square" lIns="0" tIns="0" rIns="0" bIns="0" rtlCol="0" anchor="ctr"/>
          <a:lstStyle/>
          <a:p>
            <a:pPr marL="0" indent="0">
              <a:buNone/>
            </a:pPr>
            <a:r>
              <a:rPr lang="en-US" sz="1400" dirty="0">
                <a:solidFill>
                  <a:srgbClr val="8892C8"/>
                </a:solidFill>
                <a:latin typeface="Calibri" pitchFamily="34" charset="0"/>
                <a:ea typeface="Calibri" pitchFamily="34" charset="-122"/>
                <a:cs typeface="Calibri" pitchFamily="34" charset="-120"/>
              </a:rPr>
              <a:t>Application</a:t>
            </a:r>
            <a:endParaRPr lang="en-US" sz="1400" dirty="0"/>
          </a:p>
        </p:txBody>
      </p:sp>
      <p:sp>
        <p:nvSpPr>
          <p:cNvPr id="10" name="Shape 8"/>
          <p:cNvSpPr/>
          <p:nvPr/>
        </p:nvSpPr>
        <p:spPr>
          <a:xfrm>
            <a:off x="384048" y="3200400"/>
            <a:ext cx="2743200" cy="27432"/>
          </a:xfrm>
          <a:prstGeom prst="rect">
            <a:avLst/>
          </a:prstGeom>
          <a:solidFill>
            <a:srgbClr val="5F80F9">
              <a:alpha val="60000"/>
            </a:srgbClr>
          </a:solidFill>
          <a:ln w="12700">
            <a:solidFill>
              <a:srgbClr val="5F80F9">
                <a:alpha val="60000"/>
              </a:srgbClr>
            </a:solidFill>
            <a:prstDash val="solid"/>
          </a:ln>
        </p:spPr>
        <p:txBody>
          <a:bodyPr/>
          <a:lstStyle/>
          <a:p>
            <a:endParaRPr lang="en-US"/>
          </a:p>
        </p:txBody>
      </p:sp>
      <p:sp>
        <p:nvSpPr>
          <p:cNvPr id="11" name="Text 9"/>
          <p:cNvSpPr/>
          <p:nvPr/>
        </p:nvSpPr>
        <p:spPr>
          <a:xfrm>
            <a:off x="384048" y="3337560"/>
            <a:ext cx="3108960" cy="320040"/>
          </a:xfrm>
          <a:prstGeom prst="rect">
            <a:avLst/>
          </a:prstGeom>
          <a:noFill/>
          <a:ln/>
        </p:spPr>
        <p:txBody>
          <a:bodyPr wrap="square" lIns="0" tIns="0" rIns="0" bIns="0" rtlCol="0" anchor="ctr"/>
          <a:lstStyle/>
          <a:p>
            <a:pPr marL="0" indent="0">
              <a:buNone/>
            </a:pPr>
            <a:r>
              <a:rPr lang="en-US" sz="1000" dirty="0">
                <a:solidFill>
                  <a:srgbClr val="454D7A"/>
                </a:solidFill>
                <a:latin typeface="Calibri" pitchFamily="34" charset="0"/>
                <a:ea typeface="Calibri" pitchFamily="34" charset="-122"/>
                <a:cs typeface="Calibri" pitchFamily="34" charset="-120"/>
              </a:rPr>
              <a:t>Maria Aguilar  ·  UCI 2123: Systems Engineering with AWS  ·  Capstone 2026</a:t>
            </a:r>
            <a:endParaRPr lang="en-US" sz="1000" dirty="0"/>
          </a:p>
        </p:txBody>
      </p:sp>
      <p:sp>
        <p:nvSpPr>
          <p:cNvPr id="12" name="Shape 10"/>
          <p:cNvSpPr/>
          <p:nvPr/>
        </p:nvSpPr>
        <p:spPr>
          <a:xfrm>
            <a:off x="384048" y="4206240"/>
            <a:ext cx="768096" cy="310896"/>
          </a:xfrm>
          <a:prstGeom prst="roundRect">
            <a:avLst>
              <a:gd name="adj" fmla="val 20588"/>
            </a:avLst>
          </a:prstGeom>
          <a:solidFill>
            <a:srgbClr val="0E1020"/>
          </a:solidFill>
          <a:ln w="12700">
            <a:solidFill>
              <a:srgbClr val="5F80F9">
                <a:alpha val="60000"/>
              </a:srgbClr>
            </a:solidFill>
            <a:prstDash val="solid"/>
          </a:ln>
        </p:spPr>
        <p:txBody>
          <a:bodyPr/>
          <a:lstStyle/>
          <a:p>
            <a:endParaRPr lang="en-US"/>
          </a:p>
        </p:txBody>
      </p:sp>
      <p:sp>
        <p:nvSpPr>
          <p:cNvPr id="13" name="Text 11"/>
          <p:cNvSpPr/>
          <p:nvPr/>
        </p:nvSpPr>
        <p:spPr>
          <a:xfrm>
            <a:off x="384048" y="4206240"/>
            <a:ext cx="768096" cy="310896"/>
          </a:xfrm>
          <a:prstGeom prst="rect">
            <a:avLst/>
          </a:prstGeom>
          <a:noFill/>
          <a:ln/>
        </p:spPr>
        <p:txBody>
          <a:bodyPr wrap="square" lIns="0" tIns="0" rIns="0" bIns="0" rtlCol="0" anchor="ctr"/>
          <a:lstStyle/>
          <a:p>
            <a:pPr marL="0" indent="0" algn="ctr">
              <a:buNone/>
            </a:pPr>
            <a:r>
              <a:rPr lang="en-US" sz="800" dirty="0">
                <a:solidFill>
                  <a:srgbClr val="5F80F9"/>
                </a:solidFill>
                <a:latin typeface="Calibri" pitchFamily="34" charset="0"/>
                <a:ea typeface="Calibri" pitchFamily="34" charset="-122"/>
                <a:cs typeface="Calibri" pitchFamily="34" charset="-120"/>
              </a:rPr>
              <a:t>React 18</a:t>
            </a:r>
            <a:endParaRPr lang="en-US" sz="800" dirty="0"/>
          </a:p>
        </p:txBody>
      </p:sp>
      <p:sp>
        <p:nvSpPr>
          <p:cNvPr id="14" name="Shape 12"/>
          <p:cNvSpPr/>
          <p:nvPr/>
        </p:nvSpPr>
        <p:spPr>
          <a:xfrm>
            <a:off x="1225296" y="4206240"/>
            <a:ext cx="768096" cy="310896"/>
          </a:xfrm>
          <a:prstGeom prst="roundRect">
            <a:avLst>
              <a:gd name="adj" fmla="val 20588"/>
            </a:avLst>
          </a:prstGeom>
          <a:solidFill>
            <a:srgbClr val="0E1020"/>
          </a:solidFill>
          <a:ln w="12700">
            <a:solidFill>
              <a:srgbClr val="19D9EF">
                <a:alpha val="60000"/>
              </a:srgbClr>
            </a:solidFill>
            <a:prstDash val="solid"/>
          </a:ln>
        </p:spPr>
        <p:txBody>
          <a:bodyPr/>
          <a:lstStyle/>
          <a:p>
            <a:endParaRPr lang="en-US"/>
          </a:p>
        </p:txBody>
      </p:sp>
      <p:sp>
        <p:nvSpPr>
          <p:cNvPr id="15" name="Text 13"/>
          <p:cNvSpPr/>
          <p:nvPr/>
        </p:nvSpPr>
        <p:spPr>
          <a:xfrm>
            <a:off x="1225296" y="4206240"/>
            <a:ext cx="768096" cy="310896"/>
          </a:xfrm>
          <a:prstGeom prst="rect">
            <a:avLst/>
          </a:prstGeom>
          <a:noFill/>
          <a:ln/>
        </p:spPr>
        <p:txBody>
          <a:bodyPr wrap="square" lIns="0" tIns="0" rIns="0" bIns="0" rtlCol="0" anchor="ctr"/>
          <a:lstStyle/>
          <a:p>
            <a:pPr marL="0" indent="0" algn="ctr">
              <a:buNone/>
            </a:pPr>
            <a:r>
              <a:rPr lang="en-US" sz="800" dirty="0">
                <a:solidFill>
                  <a:srgbClr val="19D9EF"/>
                </a:solidFill>
                <a:latin typeface="Calibri" pitchFamily="34" charset="0"/>
                <a:ea typeface="Calibri" pitchFamily="34" charset="-122"/>
                <a:cs typeface="Calibri" pitchFamily="34" charset="-120"/>
              </a:rPr>
              <a:t>Spring Boot 4</a:t>
            </a:r>
            <a:endParaRPr lang="en-US" sz="800" dirty="0"/>
          </a:p>
        </p:txBody>
      </p:sp>
      <p:sp>
        <p:nvSpPr>
          <p:cNvPr id="16" name="Shape 14"/>
          <p:cNvSpPr/>
          <p:nvPr/>
        </p:nvSpPr>
        <p:spPr>
          <a:xfrm>
            <a:off x="2066544" y="4206240"/>
            <a:ext cx="768096" cy="310896"/>
          </a:xfrm>
          <a:prstGeom prst="roundRect">
            <a:avLst>
              <a:gd name="adj" fmla="val 20588"/>
            </a:avLst>
          </a:prstGeom>
          <a:solidFill>
            <a:srgbClr val="0E1020"/>
          </a:solidFill>
          <a:ln w="12700">
            <a:solidFill>
              <a:srgbClr val="4ADE80">
                <a:alpha val="60000"/>
              </a:srgbClr>
            </a:solidFill>
            <a:prstDash val="solid"/>
          </a:ln>
        </p:spPr>
        <p:txBody>
          <a:bodyPr/>
          <a:lstStyle/>
          <a:p>
            <a:endParaRPr lang="en-US"/>
          </a:p>
        </p:txBody>
      </p:sp>
      <p:sp>
        <p:nvSpPr>
          <p:cNvPr id="17" name="Text 15"/>
          <p:cNvSpPr/>
          <p:nvPr/>
        </p:nvSpPr>
        <p:spPr>
          <a:xfrm>
            <a:off x="2066544" y="4206240"/>
            <a:ext cx="768096" cy="310896"/>
          </a:xfrm>
          <a:prstGeom prst="rect">
            <a:avLst/>
          </a:prstGeom>
          <a:noFill/>
          <a:ln/>
        </p:spPr>
        <p:txBody>
          <a:bodyPr wrap="square" lIns="0" tIns="0" rIns="0" bIns="0" rtlCol="0" anchor="ctr"/>
          <a:lstStyle/>
          <a:p>
            <a:pPr marL="0" indent="0" algn="ctr">
              <a:buNone/>
            </a:pPr>
            <a:r>
              <a:rPr lang="en-US" sz="800" dirty="0">
                <a:solidFill>
                  <a:srgbClr val="4ADE80"/>
                </a:solidFill>
                <a:latin typeface="Calibri" pitchFamily="34" charset="0"/>
                <a:ea typeface="Calibri" pitchFamily="34" charset="-122"/>
                <a:cs typeface="Calibri" pitchFamily="34" charset="-120"/>
              </a:rPr>
              <a:t>MySQL 8</a:t>
            </a:r>
            <a:endParaRPr lang="en-US" sz="800" dirty="0"/>
          </a:p>
        </p:txBody>
      </p:sp>
      <p:sp>
        <p:nvSpPr>
          <p:cNvPr id="18" name="Shape 16"/>
          <p:cNvSpPr/>
          <p:nvPr/>
        </p:nvSpPr>
        <p:spPr>
          <a:xfrm>
            <a:off x="2907792" y="4206240"/>
            <a:ext cx="768096" cy="310896"/>
          </a:xfrm>
          <a:prstGeom prst="roundRect">
            <a:avLst>
              <a:gd name="adj" fmla="val 20588"/>
            </a:avLst>
          </a:prstGeom>
          <a:solidFill>
            <a:srgbClr val="0E1020"/>
          </a:solidFill>
          <a:ln w="12700">
            <a:solidFill>
              <a:srgbClr val="FACC15">
                <a:alpha val="60000"/>
              </a:srgbClr>
            </a:solidFill>
            <a:prstDash val="solid"/>
          </a:ln>
        </p:spPr>
        <p:txBody>
          <a:bodyPr/>
          <a:lstStyle/>
          <a:p>
            <a:endParaRPr lang="en-US"/>
          </a:p>
        </p:txBody>
      </p:sp>
      <p:sp>
        <p:nvSpPr>
          <p:cNvPr id="19" name="Text 17"/>
          <p:cNvSpPr/>
          <p:nvPr/>
        </p:nvSpPr>
        <p:spPr>
          <a:xfrm>
            <a:off x="2907792" y="4206240"/>
            <a:ext cx="768096" cy="310896"/>
          </a:xfrm>
          <a:prstGeom prst="rect">
            <a:avLst/>
          </a:prstGeom>
          <a:noFill/>
          <a:ln/>
        </p:spPr>
        <p:txBody>
          <a:bodyPr wrap="square" lIns="0" tIns="0" rIns="0" bIns="0" rtlCol="0" anchor="ctr"/>
          <a:lstStyle/>
          <a:p>
            <a:pPr marL="0" indent="0" algn="ctr">
              <a:buNone/>
            </a:pPr>
            <a:r>
              <a:rPr lang="en-US" sz="800" dirty="0">
                <a:solidFill>
                  <a:srgbClr val="FACC15"/>
                </a:solidFill>
                <a:latin typeface="Calibri" pitchFamily="34" charset="0"/>
                <a:ea typeface="Calibri" pitchFamily="34" charset="-122"/>
                <a:cs typeface="Calibri" pitchFamily="34" charset="-120"/>
              </a:rPr>
              <a:t>JWT</a:t>
            </a:r>
            <a:endParaRPr lang="en-US" sz="800" dirty="0"/>
          </a:p>
        </p:txBody>
      </p:sp>
      <p:pic>
        <p:nvPicPr>
          <p:cNvPr id="20" name="Image 0" descr="preencoded.png"/>
          <p:cNvPicPr>
            <a:picLocks noChangeAspect="1"/>
          </p:cNvPicPr>
          <p:nvPr/>
        </p:nvPicPr>
        <p:blipFill>
          <a:blip r:embed="rId3"/>
          <a:srcRect/>
          <a:stretch/>
        </p:blipFill>
        <p:spPr>
          <a:xfrm>
            <a:off x="3931920" y="365760"/>
            <a:ext cx="4937760" cy="2596896"/>
          </a:xfrm>
          <a:prstGeom prst="rect">
            <a:avLst/>
          </a:prstGeom>
        </p:spPr>
      </p:pic>
      <p:sp>
        <p:nvSpPr>
          <p:cNvPr id="21" name="Shape 18"/>
          <p:cNvSpPr/>
          <p:nvPr/>
        </p:nvSpPr>
        <p:spPr>
          <a:xfrm>
            <a:off x="3931920" y="3154680"/>
            <a:ext cx="4937760" cy="1645920"/>
          </a:xfrm>
          <a:prstGeom prst="rect">
            <a:avLst/>
          </a:prstGeom>
          <a:solidFill>
            <a:srgbClr val="0E1020"/>
          </a:solidFill>
          <a:ln w="12700">
            <a:solidFill>
              <a:srgbClr val="3529D0">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22" name="Shape 19"/>
          <p:cNvSpPr/>
          <p:nvPr/>
        </p:nvSpPr>
        <p:spPr>
          <a:xfrm>
            <a:off x="3931920" y="3154680"/>
            <a:ext cx="54864" cy="1645920"/>
          </a:xfrm>
          <a:prstGeom prst="rect">
            <a:avLst/>
          </a:prstGeom>
          <a:solidFill>
            <a:srgbClr val="19D9EF"/>
          </a:solidFill>
          <a:ln w="12700">
            <a:solidFill>
              <a:srgbClr val="19D9EF"/>
            </a:solidFill>
            <a:prstDash val="solid"/>
          </a:ln>
        </p:spPr>
        <p:txBody>
          <a:bodyPr/>
          <a:lstStyle/>
          <a:p>
            <a:endParaRPr lang="en-US"/>
          </a:p>
        </p:txBody>
      </p:sp>
      <p:sp>
        <p:nvSpPr>
          <p:cNvPr id="23" name="Text 20"/>
          <p:cNvSpPr/>
          <p:nvPr/>
        </p:nvSpPr>
        <p:spPr>
          <a:xfrm>
            <a:off x="4041648" y="3218688"/>
            <a:ext cx="4663440" cy="292608"/>
          </a:xfrm>
          <a:prstGeom prst="rect">
            <a:avLst/>
          </a:prstGeom>
          <a:noFill/>
          <a:ln/>
        </p:spPr>
        <p:txBody>
          <a:bodyPr wrap="square" lIns="0" tIns="0" rIns="0" bIns="0" rtlCol="0" anchor="ctr"/>
          <a:lstStyle/>
          <a:p>
            <a:pPr marL="0" indent="0">
              <a:buNone/>
            </a:pPr>
            <a:r>
              <a:rPr lang="en-US" sz="1100" b="1" dirty="0">
                <a:solidFill>
                  <a:srgbClr val="19D9EF"/>
                </a:solidFill>
                <a:latin typeface="Calibri" pitchFamily="34" charset="0"/>
                <a:ea typeface="Calibri" pitchFamily="34" charset="-122"/>
                <a:cs typeface="Calibri" pitchFamily="34" charset="-120"/>
              </a:rPr>
              <a:t>★  Fun Fact</a:t>
            </a:r>
            <a:endParaRPr lang="en-US" sz="1100" dirty="0"/>
          </a:p>
        </p:txBody>
      </p:sp>
      <p:sp>
        <p:nvSpPr>
          <p:cNvPr id="24" name="Text 21"/>
          <p:cNvSpPr/>
          <p:nvPr/>
        </p:nvSpPr>
        <p:spPr>
          <a:xfrm>
            <a:off x="4041648" y="3547872"/>
            <a:ext cx="4663440" cy="1152144"/>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Cairo </a:t>
            </a:r>
            <a:r>
              <a:rPr lang="en-US" sz="1100" dirty="0">
                <a:solidFill>
                  <a:srgbClr val="EEF0FF"/>
                </a:solidFill>
                <a:latin typeface="Calibri" pitchFamily="34" charset="0"/>
                <a:ea typeface="Calibri" pitchFamily="34" charset="-122"/>
                <a:cs typeface="Calibri" pitchFamily="34" charset="-120"/>
              </a:rPr>
              <a:t>is named after my son — it means </a:t>
            </a:r>
            <a:r>
              <a:rPr lang="en-US" sz="1100" b="1" dirty="0">
                <a:solidFill>
                  <a:srgbClr val="19D9EF"/>
                </a:solidFill>
                <a:latin typeface="Calibri" pitchFamily="34" charset="0"/>
                <a:ea typeface="Calibri" pitchFamily="34" charset="-122"/>
                <a:cs typeface="Calibri" pitchFamily="34" charset="-120"/>
              </a:rPr>
              <a:t>"The Victorious"</a:t>
            </a:r>
            <a:r>
              <a:rPr lang="en-US" sz="1100" dirty="0">
                <a:solidFill>
                  <a:srgbClr val="EEF0FF"/>
                </a:solidFill>
                <a:latin typeface="Calibri" pitchFamily="34" charset="0"/>
                <a:ea typeface="Calibri" pitchFamily="34" charset="-122"/>
                <a:cs typeface="Calibri" pitchFamily="34" charset="-120"/>
              </a:rPr>
              <a:t> in Arabic.
</a:t>
            </a:r>
            <a:r>
              <a:rPr lang="en-US" sz="1100" b="1" dirty="0">
                <a:solidFill>
                  <a:srgbClr val="FFFFFF"/>
                </a:solidFill>
                <a:latin typeface="Calibri" pitchFamily="34" charset="0"/>
                <a:ea typeface="Calibri" pitchFamily="34" charset="-122"/>
                <a:cs typeface="Calibri" pitchFamily="34" charset="-120"/>
              </a:rPr>
              <a:t>Did you know? </a:t>
            </a:r>
            <a:r>
              <a:rPr lang="en-US" sz="1100" dirty="0">
                <a:solidFill>
                  <a:srgbClr val="EEF0FF"/>
                </a:solidFill>
                <a:latin typeface="Calibri" pitchFamily="34" charset="0"/>
                <a:ea typeface="Calibri" pitchFamily="34" charset="-122"/>
                <a:cs typeface="Calibri" pitchFamily="34" charset="-120"/>
              </a:rPr>
              <a:t>"Jira" is short for </a:t>
            </a:r>
            <a:r>
              <a:rPr lang="en-US" sz="1100" i="1" dirty="0">
                <a:solidFill>
                  <a:srgbClr val="FACC15"/>
                </a:solidFill>
                <a:latin typeface="Calibri" pitchFamily="34" charset="0"/>
                <a:ea typeface="Calibri" pitchFamily="34" charset="-122"/>
                <a:cs typeface="Calibri" pitchFamily="34" charset="-120"/>
              </a:rPr>
              <a:t>Gojira</a:t>
            </a:r>
            <a:r>
              <a:rPr lang="en-US" sz="1100" dirty="0">
                <a:solidFill>
                  <a:srgbClr val="EEF0FF"/>
                </a:solidFill>
                <a:latin typeface="Calibri" pitchFamily="34" charset="0"/>
                <a:ea typeface="Calibri" pitchFamily="34" charset="-122"/>
                <a:cs typeface="Calibri" pitchFamily="34" charset="-120"/>
              </a:rPr>
              <a:t> — the Japanese name for Godzilla!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80F"/>
        </a:solidFill>
        <a:effectLst/>
      </p:bgPr>
    </p:bg>
    <p:spTree>
      <p:nvGrpSpPr>
        <p:cNvPr id="1" name=""/>
        <p:cNvGrpSpPr/>
        <p:nvPr/>
      </p:nvGrpSpPr>
      <p:grpSpPr>
        <a:xfrm>
          <a:off x="0" y="0"/>
          <a:ext cx="0" cy="0"/>
          <a:chOff x="0" y="0"/>
          <a:chExt cx="0" cy="0"/>
        </a:xfrm>
      </p:grpSpPr>
      <p:sp>
        <p:nvSpPr>
          <p:cNvPr id="2" name="Shape 0"/>
          <p:cNvSpPr/>
          <p:nvPr/>
        </p:nvSpPr>
        <p:spPr>
          <a:xfrm>
            <a:off x="0" y="0"/>
            <a:ext cx="4480560" cy="5143500"/>
          </a:xfrm>
          <a:prstGeom prst="rect">
            <a:avLst/>
          </a:prstGeom>
          <a:solidFill>
            <a:srgbClr val="0A0B1A"/>
          </a:solidFill>
          <a:ln w="12700">
            <a:solidFill>
              <a:srgbClr val="0A0B1A"/>
            </a:solidFill>
            <a:prstDash val="solid"/>
          </a:ln>
        </p:spPr>
        <p:txBody>
          <a:bodyPr/>
          <a:lstStyle/>
          <a:p>
            <a:endParaRPr lang="en-US"/>
          </a:p>
        </p:txBody>
      </p:sp>
      <p:sp>
        <p:nvSpPr>
          <p:cNvPr id="3" name="Text 1"/>
          <p:cNvSpPr/>
          <p:nvPr/>
        </p:nvSpPr>
        <p:spPr>
          <a:xfrm>
            <a:off x="411480" y="384048"/>
            <a:ext cx="3657600" cy="256032"/>
          </a:xfrm>
          <a:prstGeom prst="rect">
            <a:avLst/>
          </a:prstGeom>
          <a:noFill/>
          <a:ln/>
        </p:spPr>
        <p:txBody>
          <a:bodyPr wrap="square" lIns="0" tIns="0" rIns="0" bIns="0" rtlCol="0" anchor="ctr"/>
          <a:lstStyle/>
          <a:p>
            <a:pPr marL="0" indent="0">
              <a:buNone/>
            </a:pPr>
            <a:r>
              <a:rPr lang="en-US" sz="1100" b="1" kern="0" spc="300" dirty="0">
                <a:solidFill>
                  <a:srgbClr val="F43F5E"/>
                </a:solidFill>
                <a:latin typeface="Calibri" pitchFamily="34" charset="0"/>
                <a:ea typeface="Calibri" pitchFamily="34" charset="-122"/>
                <a:cs typeface="Calibri" pitchFamily="34" charset="-120"/>
              </a:rPr>
              <a:t>THE PROBLEM</a:t>
            </a:r>
            <a:endParaRPr lang="en-US" sz="1100" dirty="0"/>
          </a:p>
        </p:txBody>
      </p:sp>
      <p:sp>
        <p:nvSpPr>
          <p:cNvPr id="4" name="Text 2"/>
          <p:cNvSpPr/>
          <p:nvPr/>
        </p:nvSpPr>
        <p:spPr>
          <a:xfrm>
            <a:off x="411480" y="694944"/>
            <a:ext cx="3657600" cy="82296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Why teams struggle</a:t>
            </a:r>
            <a:endParaRPr lang="en-US" sz="2600" dirty="0"/>
          </a:p>
          <a:p>
            <a:pPr marL="0" indent="0">
              <a:buNone/>
            </a:pPr>
            <a:r>
              <a:rPr lang="en-US" sz="2600" b="1" dirty="0">
                <a:solidFill>
                  <a:srgbClr val="FFFFFF"/>
                </a:solidFill>
                <a:latin typeface="Calibri" pitchFamily="34" charset="0"/>
                <a:ea typeface="Calibri" pitchFamily="34" charset="-122"/>
                <a:cs typeface="Calibri" pitchFamily="34" charset="-120"/>
              </a:rPr>
              <a:t>with tools like Jira</a:t>
            </a:r>
            <a:endParaRPr lang="en-US" sz="2600" dirty="0"/>
          </a:p>
        </p:txBody>
      </p:sp>
      <p:sp>
        <p:nvSpPr>
          <p:cNvPr id="5" name="Shape 3"/>
          <p:cNvSpPr/>
          <p:nvPr/>
        </p:nvSpPr>
        <p:spPr>
          <a:xfrm>
            <a:off x="411480" y="1627632"/>
            <a:ext cx="3566160" cy="1371600"/>
          </a:xfrm>
          <a:prstGeom prst="rect">
            <a:avLst/>
          </a:prstGeom>
          <a:solidFill>
            <a:srgbClr val="1A0A0F"/>
          </a:solidFill>
          <a:ln w="12700">
            <a:solidFill>
              <a:srgbClr val="F43F5E">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6" name="Text 4"/>
          <p:cNvSpPr/>
          <p:nvPr/>
        </p:nvSpPr>
        <p:spPr>
          <a:xfrm>
            <a:off x="502920" y="1682496"/>
            <a:ext cx="3383280" cy="731520"/>
          </a:xfrm>
          <a:prstGeom prst="rect">
            <a:avLst/>
          </a:prstGeom>
          <a:noFill/>
          <a:ln/>
        </p:spPr>
        <p:txBody>
          <a:bodyPr wrap="square" lIns="0" tIns="0" rIns="0" bIns="0" rtlCol="0" anchor="ctr"/>
          <a:lstStyle/>
          <a:p>
            <a:pPr marL="0" indent="0">
              <a:buNone/>
            </a:pPr>
            <a:r>
              <a:rPr lang="en-US" sz="5200" b="1" dirty="0">
                <a:solidFill>
                  <a:srgbClr val="F43F5E"/>
                </a:solidFill>
                <a:latin typeface="Calibri" pitchFamily="34" charset="0"/>
                <a:ea typeface="Calibri" pitchFamily="34" charset="-122"/>
                <a:cs typeface="Calibri" pitchFamily="34" charset="-120"/>
              </a:rPr>
              <a:t>$8–$15</a:t>
            </a:r>
            <a:endParaRPr lang="en-US" sz="5200" dirty="0"/>
          </a:p>
        </p:txBody>
      </p:sp>
      <p:sp>
        <p:nvSpPr>
          <p:cNvPr id="7" name="Text 5"/>
          <p:cNvSpPr/>
          <p:nvPr/>
        </p:nvSpPr>
        <p:spPr>
          <a:xfrm>
            <a:off x="502920" y="2377440"/>
            <a:ext cx="3383280" cy="512064"/>
          </a:xfrm>
          <a:prstGeom prst="rect">
            <a:avLst/>
          </a:prstGeom>
          <a:noFill/>
          <a:ln/>
        </p:spPr>
        <p:txBody>
          <a:bodyPr wrap="square" lIns="0" tIns="0" rIns="0" bIns="0" rtlCol="0" anchor="ctr"/>
          <a:lstStyle/>
          <a:p>
            <a:pPr marL="0" indent="0">
              <a:buNone/>
            </a:pPr>
            <a:r>
              <a:rPr lang="en-US" sz="1200" dirty="0">
                <a:solidFill>
                  <a:srgbClr val="8892C8"/>
                </a:solidFill>
                <a:latin typeface="Calibri" pitchFamily="34" charset="0"/>
                <a:ea typeface="Calibri" pitchFamily="34" charset="-122"/>
                <a:cs typeface="Calibri" pitchFamily="34" charset="-120"/>
              </a:rPr>
              <a:t>per user / month just to manage your own work</a:t>
            </a:r>
            <a:endParaRPr lang="en-US" sz="1200" dirty="0"/>
          </a:p>
        </p:txBody>
      </p:sp>
      <p:sp>
        <p:nvSpPr>
          <p:cNvPr id="8" name="Text 6"/>
          <p:cNvSpPr/>
          <p:nvPr/>
        </p:nvSpPr>
        <p:spPr>
          <a:xfrm>
            <a:off x="411480" y="3145536"/>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9" name="Text 7"/>
          <p:cNvSpPr/>
          <p:nvPr/>
        </p:nvSpPr>
        <p:spPr>
          <a:xfrm>
            <a:off x="877824" y="3182112"/>
            <a:ext cx="310896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Complex setup takes days — not hours</a:t>
            </a:r>
            <a:endParaRPr lang="en-US" sz="1200" dirty="0"/>
          </a:p>
        </p:txBody>
      </p:sp>
      <p:sp>
        <p:nvSpPr>
          <p:cNvPr id="10" name="Text 8"/>
          <p:cNvSpPr/>
          <p:nvPr/>
        </p:nvSpPr>
        <p:spPr>
          <a:xfrm>
            <a:off x="411480" y="3584448"/>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11" name="Text 9"/>
          <p:cNvSpPr/>
          <p:nvPr/>
        </p:nvSpPr>
        <p:spPr>
          <a:xfrm>
            <a:off x="877824" y="3621024"/>
            <a:ext cx="310896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Your data sits on vendor servers</a:t>
            </a:r>
            <a:endParaRPr lang="en-US" sz="1200" dirty="0"/>
          </a:p>
        </p:txBody>
      </p:sp>
      <p:sp>
        <p:nvSpPr>
          <p:cNvPr id="12" name="Text 10"/>
          <p:cNvSpPr/>
          <p:nvPr/>
        </p:nvSpPr>
        <p:spPr>
          <a:xfrm>
            <a:off x="411480" y="4023360"/>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13" name="Text 11"/>
          <p:cNvSpPr/>
          <p:nvPr/>
        </p:nvSpPr>
        <p:spPr>
          <a:xfrm>
            <a:off x="877824" y="4059936"/>
            <a:ext cx="310896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Teams pay for features they never use</a:t>
            </a:r>
            <a:endParaRPr lang="en-US" sz="1200" dirty="0"/>
          </a:p>
        </p:txBody>
      </p:sp>
      <p:sp>
        <p:nvSpPr>
          <p:cNvPr id="14" name="Text 12"/>
          <p:cNvSpPr/>
          <p:nvPr/>
        </p:nvSpPr>
        <p:spPr>
          <a:xfrm>
            <a:off x="411480" y="4462272"/>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15" name="Text 13"/>
          <p:cNvSpPr/>
          <p:nvPr/>
        </p:nvSpPr>
        <p:spPr>
          <a:xfrm>
            <a:off x="877824" y="4498848"/>
            <a:ext cx="310896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No lightweight self-hosted option exists</a:t>
            </a:r>
            <a:endParaRPr lang="en-US" sz="1200" dirty="0"/>
          </a:p>
        </p:txBody>
      </p:sp>
      <p:sp>
        <p:nvSpPr>
          <p:cNvPr id="16" name="Text 14"/>
          <p:cNvSpPr/>
          <p:nvPr/>
        </p:nvSpPr>
        <p:spPr>
          <a:xfrm>
            <a:off x="4754880" y="384048"/>
            <a:ext cx="4023360" cy="256032"/>
          </a:xfrm>
          <a:prstGeom prst="rect">
            <a:avLst/>
          </a:prstGeom>
          <a:noFill/>
          <a:ln/>
        </p:spPr>
        <p:txBody>
          <a:bodyPr wrap="square" lIns="0" tIns="0" rIns="0" bIns="0" rtlCol="0" anchor="ctr"/>
          <a:lstStyle/>
          <a:p>
            <a:pPr marL="0" indent="0">
              <a:buNone/>
            </a:pPr>
            <a:r>
              <a:rPr lang="en-US" sz="1100" b="1" kern="0" spc="300" dirty="0">
                <a:solidFill>
                  <a:srgbClr val="4ADE80"/>
                </a:solidFill>
                <a:latin typeface="Calibri" pitchFamily="34" charset="0"/>
                <a:ea typeface="Calibri" pitchFamily="34" charset="-122"/>
                <a:cs typeface="Calibri" pitchFamily="34" charset="-120"/>
              </a:rPr>
              <a:t>THE SOLUTION</a:t>
            </a:r>
            <a:endParaRPr lang="en-US" sz="1100" dirty="0"/>
          </a:p>
        </p:txBody>
      </p:sp>
      <p:sp>
        <p:nvSpPr>
          <p:cNvPr id="17" name="Text 15"/>
          <p:cNvSpPr/>
          <p:nvPr/>
        </p:nvSpPr>
        <p:spPr>
          <a:xfrm>
            <a:off x="4754880" y="694944"/>
            <a:ext cx="4023360" cy="82296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Cairo gives teams</a:t>
            </a:r>
            <a:endParaRPr lang="en-US" sz="2600" dirty="0"/>
          </a:p>
          <a:p>
            <a:pPr marL="0" indent="0">
              <a:buNone/>
            </a:pPr>
            <a:r>
              <a:rPr lang="en-US" sz="2600" b="1" dirty="0">
                <a:solidFill>
                  <a:srgbClr val="FFFFFF"/>
                </a:solidFill>
                <a:latin typeface="Calibri" pitchFamily="34" charset="0"/>
                <a:ea typeface="Calibri" pitchFamily="34" charset="-122"/>
                <a:cs typeface="Calibri" pitchFamily="34" charset="-120"/>
              </a:rPr>
              <a:t>full control</a:t>
            </a:r>
            <a:endParaRPr lang="en-US" sz="2600" dirty="0"/>
          </a:p>
        </p:txBody>
      </p:sp>
      <p:sp>
        <p:nvSpPr>
          <p:cNvPr id="18" name="Shape 16"/>
          <p:cNvSpPr/>
          <p:nvPr/>
        </p:nvSpPr>
        <p:spPr>
          <a:xfrm>
            <a:off x="4754880" y="1627632"/>
            <a:ext cx="4023360" cy="1371600"/>
          </a:xfrm>
          <a:prstGeom prst="rect">
            <a:avLst/>
          </a:prstGeom>
          <a:solidFill>
            <a:srgbClr val="0A1A0F"/>
          </a:solidFill>
          <a:ln w="12700">
            <a:solidFill>
              <a:srgbClr val="4ADE80">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9" name="Text 17"/>
          <p:cNvSpPr/>
          <p:nvPr/>
        </p:nvSpPr>
        <p:spPr>
          <a:xfrm>
            <a:off x="4846320" y="1682496"/>
            <a:ext cx="3840480" cy="731520"/>
          </a:xfrm>
          <a:prstGeom prst="rect">
            <a:avLst/>
          </a:prstGeom>
          <a:noFill/>
          <a:ln/>
        </p:spPr>
        <p:txBody>
          <a:bodyPr wrap="square" lIns="0" tIns="0" rIns="0" bIns="0" rtlCol="0" anchor="ctr"/>
          <a:lstStyle/>
          <a:p>
            <a:pPr marL="0" indent="0">
              <a:buNone/>
            </a:pPr>
            <a:r>
              <a:rPr lang="en-US" sz="5200" b="1" dirty="0">
                <a:solidFill>
                  <a:srgbClr val="4ADE80"/>
                </a:solidFill>
                <a:latin typeface="Calibri" pitchFamily="34" charset="0"/>
                <a:ea typeface="Calibri" pitchFamily="34" charset="-122"/>
                <a:cs typeface="Calibri" pitchFamily="34" charset="-120"/>
              </a:rPr>
              <a:t>$0</a:t>
            </a:r>
            <a:endParaRPr lang="en-US" sz="5200" dirty="0"/>
          </a:p>
        </p:txBody>
      </p:sp>
      <p:sp>
        <p:nvSpPr>
          <p:cNvPr id="20" name="Text 18"/>
          <p:cNvSpPr/>
          <p:nvPr/>
        </p:nvSpPr>
        <p:spPr>
          <a:xfrm>
            <a:off x="4846320" y="2377440"/>
            <a:ext cx="3840480" cy="512064"/>
          </a:xfrm>
          <a:prstGeom prst="rect">
            <a:avLst/>
          </a:prstGeom>
          <a:noFill/>
          <a:ln/>
        </p:spPr>
        <p:txBody>
          <a:bodyPr wrap="square" lIns="0" tIns="0" rIns="0" bIns="0" rtlCol="0" anchor="ctr"/>
          <a:lstStyle/>
          <a:p>
            <a:pPr marL="0" indent="0">
              <a:buNone/>
            </a:pPr>
            <a:r>
              <a:rPr lang="en-US" sz="1200" dirty="0">
                <a:solidFill>
                  <a:srgbClr val="8892C8"/>
                </a:solidFill>
                <a:latin typeface="Calibri" pitchFamily="34" charset="0"/>
                <a:ea typeface="Calibri" pitchFamily="34" charset="-122"/>
                <a:cs typeface="Calibri" pitchFamily="34" charset="-120"/>
              </a:rPr>
              <a:t>per user / month — forever. Self-hosted, yours to own.</a:t>
            </a:r>
            <a:endParaRPr lang="en-US" sz="1200" dirty="0"/>
          </a:p>
        </p:txBody>
      </p:sp>
      <p:sp>
        <p:nvSpPr>
          <p:cNvPr id="21" name="Text 19"/>
          <p:cNvSpPr/>
          <p:nvPr/>
        </p:nvSpPr>
        <p:spPr>
          <a:xfrm>
            <a:off x="4754880" y="3145536"/>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22" name="Text 20"/>
          <p:cNvSpPr/>
          <p:nvPr/>
        </p:nvSpPr>
        <p:spPr>
          <a:xfrm>
            <a:off x="5212080" y="3182112"/>
            <a:ext cx="338328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Free &amp; self-hosted — zero per-seat licensing</a:t>
            </a:r>
            <a:endParaRPr lang="en-US" sz="1200" dirty="0"/>
          </a:p>
        </p:txBody>
      </p:sp>
      <p:sp>
        <p:nvSpPr>
          <p:cNvPr id="23" name="Text 21"/>
          <p:cNvSpPr/>
          <p:nvPr/>
        </p:nvSpPr>
        <p:spPr>
          <a:xfrm>
            <a:off x="4754880" y="3584448"/>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24" name="Text 22"/>
          <p:cNvSpPr/>
          <p:nvPr/>
        </p:nvSpPr>
        <p:spPr>
          <a:xfrm>
            <a:off x="5212080" y="3621024"/>
            <a:ext cx="338328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Deploys locally in minutes, README included</a:t>
            </a:r>
            <a:endParaRPr lang="en-US" sz="1200" dirty="0"/>
          </a:p>
        </p:txBody>
      </p:sp>
      <p:sp>
        <p:nvSpPr>
          <p:cNvPr id="25" name="Text 23"/>
          <p:cNvSpPr/>
          <p:nvPr/>
        </p:nvSpPr>
        <p:spPr>
          <a:xfrm>
            <a:off x="4754880" y="4023360"/>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26" name="Text 24"/>
          <p:cNvSpPr/>
          <p:nvPr/>
        </p:nvSpPr>
        <p:spPr>
          <a:xfrm>
            <a:off x="5212080" y="4059936"/>
            <a:ext cx="338328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All data stays on your own infrastructure</a:t>
            </a:r>
            <a:endParaRPr lang="en-US" sz="1200" dirty="0"/>
          </a:p>
        </p:txBody>
      </p:sp>
      <p:sp>
        <p:nvSpPr>
          <p:cNvPr id="27" name="Text 25"/>
          <p:cNvSpPr/>
          <p:nvPr/>
        </p:nvSpPr>
        <p:spPr>
          <a:xfrm>
            <a:off x="4754880" y="4462272"/>
            <a:ext cx="402336"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28" name="Text 26"/>
          <p:cNvSpPr/>
          <p:nvPr/>
        </p:nvSpPr>
        <p:spPr>
          <a:xfrm>
            <a:off x="5212080" y="4498848"/>
            <a:ext cx="3383280" cy="329184"/>
          </a:xfrm>
          <a:prstGeom prst="rect">
            <a:avLst/>
          </a:prstGeom>
          <a:noFill/>
          <a:ln/>
        </p:spPr>
        <p:txBody>
          <a:bodyPr wrap="square" lIns="0" tIns="0" rIns="0" bIns="0" rtlCol="0" anchor="ctr"/>
          <a:lstStyle/>
          <a:p>
            <a:pPr marL="0" indent="0">
              <a:buNone/>
            </a:pPr>
            <a:r>
              <a:rPr lang="en-US" sz="1200" dirty="0">
                <a:solidFill>
                  <a:srgbClr val="EEF0FF"/>
                </a:solidFill>
                <a:latin typeface="Calibri" pitchFamily="34" charset="0"/>
                <a:ea typeface="Calibri" pitchFamily="34" charset="-122"/>
                <a:cs typeface="Calibri" pitchFamily="34" charset="-120"/>
              </a:rPr>
              <a:t>Open codebase — extend it for your needs</a:t>
            </a:r>
            <a:endParaRPr lang="en-US" sz="1200" dirty="0"/>
          </a:p>
        </p:txBody>
      </p:sp>
      <p:sp>
        <p:nvSpPr>
          <p:cNvPr id="29" name="Shape 27"/>
          <p:cNvSpPr/>
          <p:nvPr/>
        </p:nvSpPr>
        <p:spPr>
          <a:xfrm>
            <a:off x="4133088" y="2286000"/>
            <a:ext cx="512064" cy="512064"/>
          </a:xfrm>
          <a:prstGeom prst="ellipse">
            <a:avLst/>
          </a:prstGeom>
          <a:solidFill>
            <a:srgbClr val="5F80F9"/>
          </a:solidFill>
          <a:ln w="12700">
            <a:solidFill>
              <a:srgbClr val="5F80F9"/>
            </a:solidFill>
            <a:prstDash val="solid"/>
          </a:ln>
        </p:spPr>
        <p:txBody>
          <a:bodyPr/>
          <a:lstStyle/>
          <a:p>
            <a:endParaRPr lang="en-US"/>
          </a:p>
        </p:txBody>
      </p:sp>
      <p:sp>
        <p:nvSpPr>
          <p:cNvPr id="30" name="Text 28"/>
          <p:cNvSpPr/>
          <p:nvPr/>
        </p:nvSpPr>
        <p:spPr>
          <a:xfrm>
            <a:off x="4151376" y="2286000"/>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80F"/>
        </a:solidFill>
        <a:effectLst/>
      </p:bgPr>
    </p:bg>
    <p:spTree>
      <p:nvGrpSpPr>
        <p:cNvPr id="1" name=""/>
        <p:cNvGrpSpPr/>
        <p:nvPr/>
      </p:nvGrpSpPr>
      <p:grpSpPr>
        <a:xfrm>
          <a:off x="0" y="0"/>
          <a:ext cx="0" cy="0"/>
          <a:chOff x="0" y="0"/>
          <a:chExt cx="0" cy="0"/>
        </a:xfrm>
      </p:grpSpPr>
      <p:sp>
        <p:nvSpPr>
          <p:cNvPr id="2" name="Text 0"/>
          <p:cNvSpPr/>
          <p:nvPr/>
        </p:nvSpPr>
        <p:spPr>
          <a:xfrm>
            <a:off x="365760" y="256032"/>
            <a:ext cx="8412480" cy="566928"/>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Architecture Overview</a:t>
            </a:r>
            <a:endParaRPr lang="en-US" sz="3000" dirty="0"/>
          </a:p>
        </p:txBody>
      </p:sp>
      <p:sp>
        <p:nvSpPr>
          <p:cNvPr id="3" name="Text 1"/>
          <p:cNvSpPr/>
          <p:nvPr/>
        </p:nvSpPr>
        <p:spPr>
          <a:xfrm>
            <a:off x="365760" y="822960"/>
            <a:ext cx="8412480" cy="256032"/>
          </a:xfrm>
          <a:prstGeom prst="rect">
            <a:avLst/>
          </a:prstGeom>
          <a:noFill/>
          <a:ln/>
        </p:spPr>
        <p:txBody>
          <a:bodyPr wrap="square" lIns="0" tIns="0" rIns="0" bIns="0" rtlCol="0" anchor="ctr"/>
          <a:lstStyle/>
          <a:p>
            <a:pPr marL="0" indent="0">
              <a:buNone/>
            </a:pPr>
            <a:r>
              <a:rPr lang="en-US" sz="1200" dirty="0">
                <a:solidFill>
                  <a:srgbClr val="8892C8"/>
                </a:solidFill>
                <a:latin typeface="Calibri" pitchFamily="34" charset="0"/>
                <a:ea typeface="Calibri" pitchFamily="34" charset="-122"/>
                <a:cs typeface="Calibri" pitchFamily="34" charset="-120"/>
              </a:rPr>
              <a:t>Three-tier full-stack application</a:t>
            </a:r>
            <a:endParaRPr lang="en-US" sz="1200" dirty="0"/>
          </a:p>
        </p:txBody>
      </p:sp>
      <p:sp>
        <p:nvSpPr>
          <p:cNvPr id="4" name="Shape 2"/>
          <p:cNvSpPr/>
          <p:nvPr/>
        </p:nvSpPr>
        <p:spPr>
          <a:xfrm>
            <a:off x="228600" y="1188720"/>
            <a:ext cx="2743200" cy="3657600"/>
          </a:xfrm>
          <a:prstGeom prst="rect">
            <a:avLst/>
          </a:prstGeom>
          <a:solidFill>
            <a:srgbClr val="0E1020"/>
          </a:solidFill>
          <a:ln w="12700">
            <a:solidFill>
              <a:srgbClr val="1D4ED8">
                <a:alpha val="5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 name="Shape 3"/>
          <p:cNvSpPr/>
          <p:nvPr/>
        </p:nvSpPr>
        <p:spPr>
          <a:xfrm>
            <a:off x="228600" y="1188720"/>
            <a:ext cx="2743200" cy="502920"/>
          </a:xfrm>
          <a:prstGeom prst="rect">
            <a:avLst/>
          </a:prstGeom>
          <a:solidFill>
            <a:srgbClr val="1D4ED8">
              <a:alpha val="80000"/>
            </a:srgbClr>
          </a:solidFill>
          <a:ln w="12700">
            <a:solidFill>
              <a:srgbClr val="1D4ED8">
                <a:alpha val="80000"/>
              </a:srgbClr>
            </a:solidFill>
            <a:prstDash val="solid"/>
          </a:ln>
        </p:spPr>
        <p:txBody>
          <a:bodyPr/>
          <a:lstStyle/>
          <a:p>
            <a:endParaRPr lang="en-US"/>
          </a:p>
        </p:txBody>
      </p:sp>
      <p:sp>
        <p:nvSpPr>
          <p:cNvPr id="6" name="Text 4"/>
          <p:cNvSpPr/>
          <p:nvPr/>
        </p:nvSpPr>
        <p:spPr>
          <a:xfrm>
            <a:off x="228600" y="1188720"/>
            <a:ext cx="2743200" cy="29260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Frontend</a:t>
            </a:r>
            <a:endParaRPr lang="en-US" sz="1400" dirty="0"/>
          </a:p>
        </p:txBody>
      </p:sp>
      <p:sp>
        <p:nvSpPr>
          <p:cNvPr id="7" name="Text 5"/>
          <p:cNvSpPr/>
          <p:nvPr/>
        </p:nvSpPr>
        <p:spPr>
          <a:xfrm>
            <a:off x="228600" y="1463040"/>
            <a:ext cx="2743200" cy="219456"/>
          </a:xfrm>
          <a:prstGeom prst="rect">
            <a:avLst/>
          </a:prstGeom>
          <a:noFill/>
          <a:ln/>
        </p:spPr>
        <p:txBody>
          <a:bodyPr wrap="square" lIns="0" tIns="0" rIns="0" bIns="0" rtlCol="0" anchor="ctr"/>
          <a:lstStyle/>
          <a:p>
            <a:pPr marL="0" indent="0" algn="ctr">
              <a:buNone/>
            </a:pPr>
            <a:r>
              <a:rPr lang="en-US" sz="1000" dirty="0">
                <a:solidFill>
                  <a:srgbClr val="19D9EF"/>
                </a:solidFill>
                <a:latin typeface="Calibri" pitchFamily="34" charset="0"/>
                <a:ea typeface="Calibri" pitchFamily="34" charset="-122"/>
                <a:cs typeface="Calibri" pitchFamily="34" charset="-120"/>
              </a:rPr>
              <a:t>React 18 + Vite</a:t>
            </a:r>
            <a:endParaRPr lang="en-US" sz="1000" dirty="0"/>
          </a:p>
        </p:txBody>
      </p:sp>
      <p:sp>
        <p:nvSpPr>
          <p:cNvPr id="8" name="Text 6"/>
          <p:cNvSpPr/>
          <p:nvPr/>
        </p:nvSpPr>
        <p:spPr>
          <a:xfrm>
            <a:off x="338328" y="1773936"/>
            <a:ext cx="2523744" cy="2962656"/>
          </a:xfrm>
          <a:prstGeom prst="rect">
            <a:avLst/>
          </a:prstGeom>
          <a:noFill/>
          <a:ln/>
        </p:spPr>
        <p:txBody>
          <a:bodyPr wrap="square" rtlCol="0" anchor="ctr"/>
          <a:lstStyle/>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React Router (10 routes)</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Axios API client</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JWT token storage</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useContext + useReducer</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CSS Modules + Syne font</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PrismaticBurst animation</a:t>
            </a:r>
            <a:endParaRPr lang="en-US" sz="1100" dirty="0"/>
          </a:p>
        </p:txBody>
      </p:sp>
      <p:sp>
        <p:nvSpPr>
          <p:cNvPr id="9" name="Shape 7"/>
          <p:cNvSpPr/>
          <p:nvPr/>
        </p:nvSpPr>
        <p:spPr>
          <a:xfrm>
            <a:off x="3246120" y="1188720"/>
            <a:ext cx="2743200" cy="3657600"/>
          </a:xfrm>
          <a:prstGeom prst="rect">
            <a:avLst/>
          </a:prstGeom>
          <a:solidFill>
            <a:srgbClr val="0E1020"/>
          </a:solidFill>
          <a:ln w="12700">
            <a:solidFill>
              <a:srgbClr val="065F46">
                <a:alpha val="5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0" name="Shape 8"/>
          <p:cNvSpPr/>
          <p:nvPr/>
        </p:nvSpPr>
        <p:spPr>
          <a:xfrm>
            <a:off x="3246120" y="1188720"/>
            <a:ext cx="2743200" cy="502920"/>
          </a:xfrm>
          <a:prstGeom prst="rect">
            <a:avLst/>
          </a:prstGeom>
          <a:solidFill>
            <a:srgbClr val="065F46">
              <a:alpha val="80000"/>
            </a:srgbClr>
          </a:solidFill>
          <a:ln w="12700">
            <a:solidFill>
              <a:srgbClr val="065F46">
                <a:alpha val="80000"/>
              </a:srgbClr>
            </a:solidFill>
            <a:prstDash val="solid"/>
          </a:ln>
        </p:spPr>
        <p:txBody>
          <a:bodyPr/>
          <a:lstStyle/>
          <a:p>
            <a:endParaRPr lang="en-US"/>
          </a:p>
        </p:txBody>
      </p:sp>
      <p:sp>
        <p:nvSpPr>
          <p:cNvPr id="11" name="Text 9"/>
          <p:cNvSpPr/>
          <p:nvPr/>
        </p:nvSpPr>
        <p:spPr>
          <a:xfrm>
            <a:off x="3246120" y="1188720"/>
            <a:ext cx="2743200" cy="29260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Backend</a:t>
            </a:r>
            <a:endParaRPr lang="en-US" sz="1400" dirty="0"/>
          </a:p>
        </p:txBody>
      </p:sp>
      <p:sp>
        <p:nvSpPr>
          <p:cNvPr id="12" name="Text 10"/>
          <p:cNvSpPr/>
          <p:nvPr/>
        </p:nvSpPr>
        <p:spPr>
          <a:xfrm>
            <a:off x="3246120" y="1463040"/>
            <a:ext cx="2743200" cy="219456"/>
          </a:xfrm>
          <a:prstGeom prst="rect">
            <a:avLst/>
          </a:prstGeom>
          <a:noFill/>
          <a:ln/>
        </p:spPr>
        <p:txBody>
          <a:bodyPr wrap="square" lIns="0" tIns="0" rIns="0" bIns="0" rtlCol="0" anchor="ctr"/>
          <a:lstStyle/>
          <a:p>
            <a:pPr marL="0" indent="0" algn="ctr">
              <a:buNone/>
            </a:pPr>
            <a:r>
              <a:rPr lang="en-US" sz="1000" dirty="0">
                <a:solidFill>
                  <a:srgbClr val="19D9EF"/>
                </a:solidFill>
                <a:latin typeface="Calibri" pitchFamily="34" charset="0"/>
                <a:ea typeface="Calibri" pitchFamily="34" charset="-122"/>
                <a:cs typeface="Calibri" pitchFamily="34" charset="-120"/>
              </a:rPr>
              <a:t>Spring Boot 4</a:t>
            </a:r>
            <a:endParaRPr lang="en-US" sz="1000" dirty="0"/>
          </a:p>
        </p:txBody>
      </p:sp>
      <p:sp>
        <p:nvSpPr>
          <p:cNvPr id="13" name="Text 11"/>
          <p:cNvSpPr/>
          <p:nvPr/>
        </p:nvSpPr>
        <p:spPr>
          <a:xfrm>
            <a:off x="3355848" y="1773936"/>
            <a:ext cx="2523744" cy="2962656"/>
          </a:xfrm>
          <a:prstGeom prst="rect">
            <a:avLst/>
          </a:prstGeom>
          <a:noFill/>
          <a:ln/>
        </p:spPr>
        <p:txBody>
          <a:bodyPr wrap="square" rtlCol="0" anchor="ctr"/>
          <a:lstStyle/>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7 REST Controllers</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Service + DTO layer</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Spring Security + JWT</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JPA / Hibernate ORM</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Global Exception Handler</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Rate limiting filter</a:t>
            </a:r>
            <a:endParaRPr lang="en-US" sz="1100" dirty="0"/>
          </a:p>
        </p:txBody>
      </p:sp>
      <p:sp>
        <p:nvSpPr>
          <p:cNvPr id="14" name="Shape 12"/>
          <p:cNvSpPr/>
          <p:nvPr/>
        </p:nvSpPr>
        <p:spPr>
          <a:xfrm>
            <a:off x="6263640" y="1188720"/>
            <a:ext cx="2743200" cy="3657600"/>
          </a:xfrm>
          <a:prstGeom prst="rect">
            <a:avLst/>
          </a:prstGeom>
          <a:solidFill>
            <a:srgbClr val="0E1020"/>
          </a:solidFill>
          <a:ln w="12700">
            <a:solidFill>
              <a:srgbClr val="7C2D12">
                <a:alpha val="5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5" name="Shape 13"/>
          <p:cNvSpPr/>
          <p:nvPr/>
        </p:nvSpPr>
        <p:spPr>
          <a:xfrm>
            <a:off x="6263640" y="1188720"/>
            <a:ext cx="2743200" cy="502920"/>
          </a:xfrm>
          <a:prstGeom prst="rect">
            <a:avLst/>
          </a:prstGeom>
          <a:solidFill>
            <a:srgbClr val="7C2D12">
              <a:alpha val="80000"/>
            </a:srgbClr>
          </a:solidFill>
          <a:ln w="12700">
            <a:solidFill>
              <a:srgbClr val="7C2D12">
                <a:alpha val="80000"/>
              </a:srgbClr>
            </a:solidFill>
            <a:prstDash val="solid"/>
          </a:ln>
        </p:spPr>
        <p:txBody>
          <a:bodyPr/>
          <a:lstStyle/>
          <a:p>
            <a:endParaRPr lang="en-US"/>
          </a:p>
        </p:txBody>
      </p:sp>
      <p:sp>
        <p:nvSpPr>
          <p:cNvPr id="16" name="Text 14"/>
          <p:cNvSpPr/>
          <p:nvPr/>
        </p:nvSpPr>
        <p:spPr>
          <a:xfrm>
            <a:off x="6263640" y="1188720"/>
            <a:ext cx="2743200" cy="29260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Database</a:t>
            </a:r>
            <a:endParaRPr lang="en-US" sz="1400" dirty="0"/>
          </a:p>
        </p:txBody>
      </p:sp>
      <p:sp>
        <p:nvSpPr>
          <p:cNvPr id="17" name="Text 15"/>
          <p:cNvSpPr/>
          <p:nvPr/>
        </p:nvSpPr>
        <p:spPr>
          <a:xfrm>
            <a:off x="6263640" y="1463040"/>
            <a:ext cx="2743200" cy="219456"/>
          </a:xfrm>
          <a:prstGeom prst="rect">
            <a:avLst/>
          </a:prstGeom>
          <a:noFill/>
          <a:ln/>
        </p:spPr>
        <p:txBody>
          <a:bodyPr wrap="square" lIns="0" tIns="0" rIns="0" bIns="0" rtlCol="0" anchor="ctr"/>
          <a:lstStyle/>
          <a:p>
            <a:pPr marL="0" indent="0" algn="ctr">
              <a:buNone/>
            </a:pPr>
            <a:r>
              <a:rPr lang="en-US" sz="1000" dirty="0">
                <a:solidFill>
                  <a:srgbClr val="19D9EF"/>
                </a:solidFill>
                <a:latin typeface="Calibri" pitchFamily="34" charset="0"/>
                <a:ea typeface="Calibri" pitchFamily="34" charset="-122"/>
                <a:cs typeface="Calibri" pitchFamily="34" charset="-120"/>
              </a:rPr>
              <a:t>MySQL 8</a:t>
            </a:r>
            <a:endParaRPr lang="en-US" sz="1000" dirty="0"/>
          </a:p>
        </p:txBody>
      </p:sp>
      <p:sp>
        <p:nvSpPr>
          <p:cNvPr id="18" name="Text 16"/>
          <p:cNvSpPr/>
          <p:nvPr/>
        </p:nvSpPr>
        <p:spPr>
          <a:xfrm>
            <a:off x="6373368" y="1773936"/>
            <a:ext cx="2523744" cy="2962656"/>
          </a:xfrm>
          <a:prstGeom prst="rect">
            <a:avLst/>
          </a:prstGeom>
          <a:noFill/>
          <a:ln/>
        </p:spPr>
        <p:txBody>
          <a:bodyPr wrap="square" rtlCol="0" anchor="ctr"/>
          <a:lstStyle/>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10 relational tables</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FK constraints + indexes</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ENUM types for status</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Cascade delete rules</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Issue audit history</a:t>
            </a:r>
            <a:endParaRPr lang="en-US" sz="1100" dirty="0"/>
          </a:p>
          <a:p>
            <a:pPr marL="342900" indent="-342900">
              <a:spcAft>
                <a:spcPts val="300"/>
              </a:spcAft>
              <a:buSzPct val="100000"/>
              <a:buChar char="•"/>
            </a:pPr>
            <a:r>
              <a:rPr lang="en-US" sz="1100" dirty="0">
                <a:solidFill>
                  <a:srgbClr val="EEF0FF"/>
                </a:solidFill>
                <a:latin typeface="Calibri" pitchFamily="34" charset="0"/>
                <a:ea typeface="Calibri" pitchFamily="34" charset="-122"/>
                <a:cs typeface="Calibri" pitchFamily="34" charset="-120"/>
              </a:rPr>
              <a:t>Seed data included</a:t>
            </a:r>
            <a:endParaRPr lang="en-US" sz="1100" dirty="0"/>
          </a:p>
        </p:txBody>
      </p:sp>
      <p:sp>
        <p:nvSpPr>
          <p:cNvPr id="19" name="Text 17"/>
          <p:cNvSpPr/>
          <p:nvPr/>
        </p:nvSpPr>
        <p:spPr>
          <a:xfrm>
            <a:off x="2980944" y="2859414"/>
            <a:ext cx="365760" cy="256032"/>
          </a:xfrm>
          <a:prstGeom prst="rect">
            <a:avLst/>
          </a:prstGeom>
          <a:noFill/>
          <a:ln/>
        </p:spPr>
        <p:txBody>
          <a:bodyPr wrap="square" lIns="0" tIns="0" rIns="0" bIns="0" rtlCol="0" anchor="ctr"/>
          <a:lstStyle/>
          <a:p>
            <a:pPr marL="0" indent="0" algn="ctr">
              <a:buNone/>
            </a:pPr>
            <a:r>
              <a:rPr lang="en-US" sz="800" dirty="0">
                <a:solidFill>
                  <a:srgbClr val="19D9EF"/>
                </a:solidFill>
                <a:latin typeface="Calibri" pitchFamily="34" charset="0"/>
                <a:ea typeface="Calibri" pitchFamily="34" charset="-122"/>
                <a:cs typeface="Calibri" pitchFamily="34" charset="-120"/>
              </a:rPr>
              <a:t>HTTP/JSON</a:t>
            </a:r>
            <a:endParaRPr lang="en-US" sz="800" dirty="0"/>
          </a:p>
        </p:txBody>
      </p:sp>
      <p:sp>
        <p:nvSpPr>
          <p:cNvPr id="20" name="Text 18"/>
          <p:cNvSpPr/>
          <p:nvPr/>
        </p:nvSpPr>
        <p:spPr>
          <a:xfrm>
            <a:off x="5888736" y="2751494"/>
            <a:ext cx="512064" cy="365760"/>
          </a:xfrm>
          <a:prstGeom prst="rect">
            <a:avLst/>
          </a:prstGeom>
          <a:noFill/>
          <a:ln/>
        </p:spPr>
        <p:txBody>
          <a:bodyPr wrap="square" lIns="0" tIns="0" rIns="0" bIns="0" rtlCol="0" anchor="ctr"/>
          <a:lstStyle/>
          <a:p>
            <a:pPr marL="0" indent="0" algn="ctr">
              <a:buNone/>
            </a:pPr>
            <a:r>
              <a:rPr lang="en-US" sz="800" dirty="0">
                <a:solidFill>
                  <a:srgbClr val="19D9EF"/>
                </a:solidFill>
                <a:latin typeface="Calibri" pitchFamily="34" charset="0"/>
                <a:ea typeface="Calibri" pitchFamily="34" charset="-122"/>
                <a:cs typeface="Calibri" pitchFamily="34" charset="-120"/>
              </a:rPr>
              <a:t>JPA / SQL</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80F"/>
        </a:solidFill>
        <a:effectLst/>
      </p:bgPr>
    </p:bg>
    <p:spTree>
      <p:nvGrpSpPr>
        <p:cNvPr id="1" name=""/>
        <p:cNvGrpSpPr/>
        <p:nvPr/>
      </p:nvGrpSpPr>
      <p:grpSpPr>
        <a:xfrm>
          <a:off x="0" y="0"/>
          <a:ext cx="0" cy="0"/>
          <a:chOff x="0" y="0"/>
          <a:chExt cx="0" cy="0"/>
        </a:xfrm>
      </p:grpSpPr>
      <p:sp>
        <p:nvSpPr>
          <p:cNvPr id="2" name="Text 0"/>
          <p:cNvSpPr/>
          <p:nvPr/>
        </p:nvSpPr>
        <p:spPr>
          <a:xfrm>
            <a:off x="365760" y="182880"/>
            <a:ext cx="8412480" cy="54864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Database Schema</a:t>
            </a:r>
            <a:endParaRPr lang="en-US" sz="3000" dirty="0"/>
          </a:p>
        </p:txBody>
      </p:sp>
      <p:sp>
        <p:nvSpPr>
          <p:cNvPr id="3" name="Text 1"/>
          <p:cNvSpPr/>
          <p:nvPr/>
        </p:nvSpPr>
        <p:spPr>
          <a:xfrm>
            <a:off x="365760" y="713232"/>
            <a:ext cx="8412480" cy="256032"/>
          </a:xfrm>
          <a:prstGeom prst="rect">
            <a:avLst/>
          </a:prstGeom>
          <a:noFill/>
          <a:ln/>
        </p:spPr>
        <p:txBody>
          <a:bodyPr wrap="square" lIns="0" tIns="0" rIns="0" bIns="0" rtlCol="0" anchor="ctr"/>
          <a:lstStyle/>
          <a:p>
            <a:pPr marL="0" indent="0">
              <a:buNone/>
            </a:pPr>
            <a:r>
              <a:rPr lang="en-US" sz="1100" dirty="0">
                <a:solidFill>
                  <a:srgbClr val="8892C8"/>
                </a:solidFill>
                <a:latin typeface="Calibri" pitchFamily="34" charset="0"/>
                <a:ea typeface="Calibri" pitchFamily="34" charset="-122"/>
                <a:cs typeface="Calibri" pitchFamily="34" charset="-120"/>
              </a:rPr>
              <a:t>10 relational tables — MySQL 8  ·  Designed with DrawSQL</a:t>
            </a:r>
            <a:endParaRPr lang="en-US" sz="1100" dirty="0"/>
          </a:p>
        </p:txBody>
      </p:sp>
      <p:pic>
        <p:nvPicPr>
          <p:cNvPr id="4" name="Image 0" descr="preencoded.png"/>
          <p:cNvPicPr>
            <a:picLocks noChangeAspect="1"/>
          </p:cNvPicPr>
          <p:nvPr/>
        </p:nvPicPr>
        <p:blipFill>
          <a:blip r:embed="rId3"/>
          <a:srcRect/>
          <a:stretch/>
        </p:blipFill>
        <p:spPr>
          <a:xfrm>
            <a:off x="228600" y="1005840"/>
            <a:ext cx="8686800" cy="38404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80F"/>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530352"/>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User Stories</a:t>
            </a:r>
            <a:endParaRPr lang="en-US" sz="3000" dirty="0"/>
          </a:p>
        </p:txBody>
      </p:sp>
      <p:sp>
        <p:nvSpPr>
          <p:cNvPr id="3" name="Text 1"/>
          <p:cNvSpPr/>
          <p:nvPr/>
        </p:nvSpPr>
        <p:spPr>
          <a:xfrm>
            <a:off x="365760" y="713232"/>
            <a:ext cx="8412480" cy="256032"/>
          </a:xfrm>
          <a:prstGeom prst="rect">
            <a:avLst/>
          </a:prstGeom>
          <a:noFill/>
          <a:ln/>
        </p:spPr>
        <p:txBody>
          <a:bodyPr wrap="square" lIns="0" tIns="0" rIns="0" bIns="0" rtlCol="0" anchor="ctr"/>
          <a:lstStyle/>
          <a:p>
            <a:pPr marL="0" indent="0">
              <a:buNone/>
            </a:pPr>
            <a:r>
              <a:rPr lang="en-US" sz="1100" dirty="0">
                <a:solidFill>
                  <a:srgbClr val="4ADE80"/>
                </a:solidFill>
                <a:latin typeface="Calibri" pitchFamily="34" charset="0"/>
                <a:ea typeface="Calibri" pitchFamily="34" charset="-122"/>
                <a:cs typeface="Calibri" pitchFamily="34" charset="-120"/>
              </a:rPr>
              <a:t>12 user stories — all completed ✓</a:t>
            </a:r>
            <a:endParaRPr lang="en-US" sz="1100" dirty="0"/>
          </a:p>
        </p:txBody>
      </p:sp>
      <p:sp>
        <p:nvSpPr>
          <p:cNvPr id="4" name="Shape 2"/>
          <p:cNvSpPr/>
          <p:nvPr/>
        </p:nvSpPr>
        <p:spPr>
          <a:xfrm>
            <a:off x="256032" y="111556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 name="Shape 3"/>
          <p:cNvSpPr/>
          <p:nvPr/>
        </p:nvSpPr>
        <p:spPr>
          <a:xfrm>
            <a:off x="256032" y="1115568"/>
            <a:ext cx="54864" cy="841248"/>
          </a:xfrm>
          <a:prstGeom prst="rect">
            <a:avLst/>
          </a:prstGeom>
          <a:solidFill>
            <a:srgbClr val="5F80F9"/>
          </a:solidFill>
          <a:ln w="12700">
            <a:solidFill>
              <a:srgbClr val="5F80F9"/>
            </a:solidFill>
            <a:prstDash val="solid"/>
          </a:ln>
        </p:spPr>
        <p:txBody>
          <a:bodyPr/>
          <a:lstStyle/>
          <a:p>
            <a:endParaRPr lang="en-US"/>
          </a:p>
        </p:txBody>
      </p:sp>
      <p:sp>
        <p:nvSpPr>
          <p:cNvPr id="6" name="Text 4"/>
          <p:cNvSpPr/>
          <p:nvPr/>
        </p:nvSpPr>
        <p:spPr>
          <a:xfrm>
            <a:off x="347472" y="117957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US-01</a:t>
            </a:r>
            <a:endParaRPr lang="en-US" sz="900" dirty="0"/>
          </a:p>
        </p:txBody>
      </p:sp>
      <p:sp>
        <p:nvSpPr>
          <p:cNvPr id="7" name="Text 5"/>
          <p:cNvSpPr/>
          <p:nvPr/>
        </p:nvSpPr>
        <p:spPr>
          <a:xfrm>
            <a:off x="2834640" y="117043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8" name="Text 6"/>
          <p:cNvSpPr/>
          <p:nvPr/>
        </p:nvSpPr>
        <p:spPr>
          <a:xfrm>
            <a:off x="347472" y="138988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Create an Issue</a:t>
            </a:r>
            <a:endParaRPr lang="en-US" sz="1100" dirty="0"/>
          </a:p>
        </p:txBody>
      </p:sp>
      <p:sp>
        <p:nvSpPr>
          <p:cNvPr id="9" name="Text 7"/>
          <p:cNvSpPr/>
          <p:nvPr/>
        </p:nvSpPr>
        <p:spPr>
          <a:xfrm>
            <a:off x="347472" y="171907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Developer · 3 pts</a:t>
            </a:r>
            <a:endParaRPr lang="en-US" sz="900" dirty="0"/>
          </a:p>
        </p:txBody>
      </p:sp>
      <p:sp>
        <p:nvSpPr>
          <p:cNvPr id="10" name="Shape 8"/>
          <p:cNvSpPr/>
          <p:nvPr/>
        </p:nvSpPr>
        <p:spPr>
          <a:xfrm>
            <a:off x="3200400" y="111556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1" name="Shape 9"/>
          <p:cNvSpPr/>
          <p:nvPr/>
        </p:nvSpPr>
        <p:spPr>
          <a:xfrm>
            <a:off x="3200400" y="1115568"/>
            <a:ext cx="54864" cy="841248"/>
          </a:xfrm>
          <a:prstGeom prst="rect">
            <a:avLst/>
          </a:prstGeom>
          <a:solidFill>
            <a:srgbClr val="5F80F9"/>
          </a:solidFill>
          <a:ln w="12700">
            <a:solidFill>
              <a:srgbClr val="5F80F9"/>
            </a:solidFill>
            <a:prstDash val="solid"/>
          </a:ln>
        </p:spPr>
        <p:txBody>
          <a:bodyPr/>
          <a:lstStyle/>
          <a:p>
            <a:endParaRPr lang="en-US"/>
          </a:p>
        </p:txBody>
      </p:sp>
      <p:sp>
        <p:nvSpPr>
          <p:cNvPr id="12" name="Text 10"/>
          <p:cNvSpPr/>
          <p:nvPr/>
        </p:nvSpPr>
        <p:spPr>
          <a:xfrm>
            <a:off x="3291840" y="117957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US-02</a:t>
            </a:r>
            <a:endParaRPr lang="en-US" sz="900" dirty="0"/>
          </a:p>
        </p:txBody>
      </p:sp>
      <p:sp>
        <p:nvSpPr>
          <p:cNvPr id="13" name="Text 11"/>
          <p:cNvSpPr/>
          <p:nvPr/>
        </p:nvSpPr>
        <p:spPr>
          <a:xfrm>
            <a:off x="5779008" y="117043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3291840" y="138988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Update Issue Status</a:t>
            </a:r>
            <a:endParaRPr lang="en-US" sz="1100" dirty="0"/>
          </a:p>
        </p:txBody>
      </p:sp>
      <p:sp>
        <p:nvSpPr>
          <p:cNvPr id="15" name="Text 13"/>
          <p:cNvSpPr/>
          <p:nvPr/>
        </p:nvSpPr>
        <p:spPr>
          <a:xfrm>
            <a:off x="3291840" y="171907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Developer · 2 pts</a:t>
            </a:r>
            <a:endParaRPr lang="en-US" sz="900" dirty="0"/>
          </a:p>
        </p:txBody>
      </p:sp>
      <p:sp>
        <p:nvSpPr>
          <p:cNvPr id="16" name="Shape 14"/>
          <p:cNvSpPr/>
          <p:nvPr/>
        </p:nvSpPr>
        <p:spPr>
          <a:xfrm>
            <a:off x="6144768" y="111556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7" name="Shape 15"/>
          <p:cNvSpPr/>
          <p:nvPr/>
        </p:nvSpPr>
        <p:spPr>
          <a:xfrm>
            <a:off x="6144768" y="1115568"/>
            <a:ext cx="54864" cy="841248"/>
          </a:xfrm>
          <a:prstGeom prst="rect">
            <a:avLst/>
          </a:prstGeom>
          <a:solidFill>
            <a:srgbClr val="5F80F9"/>
          </a:solidFill>
          <a:ln w="12700">
            <a:solidFill>
              <a:srgbClr val="5F80F9"/>
            </a:solidFill>
            <a:prstDash val="solid"/>
          </a:ln>
        </p:spPr>
        <p:txBody>
          <a:bodyPr/>
          <a:lstStyle/>
          <a:p>
            <a:endParaRPr lang="en-US"/>
          </a:p>
        </p:txBody>
      </p:sp>
      <p:sp>
        <p:nvSpPr>
          <p:cNvPr id="18" name="Text 16"/>
          <p:cNvSpPr/>
          <p:nvPr/>
        </p:nvSpPr>
        <p:spPr>
          <a:xfrm>
            <a:off x="6236208" y="117957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US-03</a:t>
            </a:r>
            <a:endParaRPr lang="en-US" sz="900" dirty="0"/>
          </a:p>
        </p:txBody>
      </p:sp>
      <p:sp>
        <p:nvSpPr>
          <p:cNvPr id="19" name="Text 17"/>
          <p:cNvSpPr/>
          <p:nvPr/>
        </p:nvSpPr>
        <p:spPr>
          <a:xfrm>
            <a:off x="8723376" y="117043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20" name="Text 18"/>
          <p:cNvSpPr/>
          <p:nvPr/>
        </p:nvSpPr>
        <p:spPr>
          <a:xfrm>
            <a:off x="6236208" y="138988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Assign Issues to Members</a:t>
            </a:r>
            <a:endParaRPr lang="en-US" sz="1100" dirty="0"/>
          </a:p>
        </p:txBody>
      </p:sp>
      <p:sp>
        <p:nvSpPr>
          <p:cNvPr id="21" name="Text 19"/>
          <p:cNvSpPr/>
          <p:nvPr/>
        </p:nvSpPr>
        <p:spPr>
          <a:xfrm>
            <a:off x="6236208" y="171907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Developer · 2 pts</a:t>
            </a:r>
            <a:endParaRPr lang="en-US" sz="900" dirty="0"/>
          </a:p>
        </p:txBody>
      </p:sp>
      <p:sp>
        <p:nvSpPr>
          <p:cNvPr id="22" name="Shape 20"/>
          <p:cNvSpPr/>
          <p:nvPr/>
        </p:nvSpPr>
        <p:spPr>
          <a:xfrm>
            <a:off x="256032" y="207568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23" name="Shape 21"/>
          <p:cNvSpPr/>
          <p:nvPr/>
        </p:nvSpPr>
        <p:spPr>
          <a:xfrm>
            <a:off x="256032" y="2075688"/>
            <a:ext cx="54864" cy="841248"/>
          </a:xfrm>
          <a:prstGeom prst="rect">
            <a:avLst/>
          </a:prstGeom>
          <a:solidFill>
            <a:srgbClr val="5F80F9"/>
          </a:solidFill>
          <a:ln w="12700">
            <a:solidFill>
              <a:srgbClr val="5F80F9"/>
            </a:solidFill>
            <a:prstDash val="solid"/>
          </a:ln>
        </p:spPr>
        <p:txBody>
          <a:bodyPr/>
          <a:lstStyle/>
          <a:p>
            <a:endParaRPr lang="en-US"/>
          </a:p>
        </p:txBody>
      </p:sp>
      <p:sp>
        <p:nvSpPr>
          <p:cNvPr id="24" name="Text 22"/>
          <p:cNvSpPr/>
          <p:nvPr/>
        </p:nvSpPr>
        <p:spPr>
          <a:xfrm>
            <a:off x="347472" y="213969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US-04</a:t>
            </a:r>
            <a:endParaRPr lang="en-US" sz="900" dirty="0"/>
          </a:p>
        </p:txBody>
      </p:sp>
      <p:sp>
        <p:nvSpPr>
          <p:cNvPr id="25" name="Text 23"/>
          <p:cNvSpPr/>
          <p:nvPr/>
        </p:nvSpPr>
        <p:spPr>
          <a:xfrm>
            <a:off x="2834640" y="213055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26" name="Text 24"/>
          <p:cNvSpPr/>
          <p:nvPr/>
        </p:nvSpPr>
        <p:spPr>
          <a:xfrm>
            <a:off x="347472" y="235000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Comment on Issues</a:t>
            </a:r>
            <a:endParaRPr lang="en-US" sz="1100" dirty="0"/>
          </a:p>
        </p:txBody>
      </p:sp>
      <p:sp>
        <p:nvSpPr>
          <p:cNvPr id="27" name="Text 25"/>
          <p:cNvSpPr/>
          <p:nvPr/>
        </p:nvSpPr>
        <p:spPr>
          <a:xfrm>
            <a:off x="347472" y="267919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Developer · 3 pts</a:t>
            </a:r>
            <a:endParaRPr lang="en-US" sz="900" dirty="0"/>
          </a:p>
        </p:txBody>
      </p:sp>
      <p:sp>
        <p:nvSpPr>
          <p:cNvPr id="28" name="Shape 26"/>
          <p:cNvSpPr/>
          <p:nvPr/>
        </p:nvSpPr>
        <p:spPr>
          <a:xfrm>
            <a:off x="3200400" y="207568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29" name="Shape 27"/>
          <p:cNvSpPr/>
          <p:nvPr/>
        </p:nvSpPr>
        <p:spPr>
          <a:xfrm>
            <a:off x="3200400" y="2075688"/>
            <a:ext cx="54864" cy="841248"/>
          </a:xfrm>
          <a:prstGeom prst="rect">
            <a:avLst/>
          </a:prstGeom>
          <a:solidFill>
            <a:srgbClr val="5F80F9"/>
          </a:solidFill>
          <a:ln w="12700">
            <a:solidFill>
              <a:srgbClr val="5F80F9"/>
            </a:solidFill>
            <a:prstDash val="solid"/>
          </a:ln>
        </p:spPr>
        <p:txBody>
          <a:bodyPr/>
          <a:lstStyle/>
          <a:p>
            <a:endParaRPr lang="en-US"/>
          </a:p>
        </p:txBody>
      </p:sp>
      <p:sp>
        <p:nvSpPr>
          <p:cNvPr id="30" name="Text 28"/>
          <p:cNvSpPr/>
          <p:nvPr/>
        </p:nvSpPr>
        <p:spPr>
          <a:xfrm>
            <a:off x="3291840" y="213969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US-05</a:t>
            </a:r>
            <a:endParaRPr lang="en-US" sz="900" dirty="0"/>
          </a:p>
        </p:txBody>
      </p:sp>
      <p:sp>
        <p:nvSpPr>
          <p:cNvPr id="31" name="Text 29"/>
          <p:cNvSpPr/>
          <p:nvPr/>
        </p:nvSpPr>
        <p:spPr>
          <a:xfrm>
            <a:off x="5779008" y="213055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32" name="Text 30"/>
          <p:cNvSpPr/>
          <p:nvPr/>
        </p:nvSpPr>
        <p:spPr>
          <a:xfrm>
            <a:off x="3291840" y="235000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Receive Notifications</a:t>
            </a:r>
            <a:endParaRPr lang="en-US" sz="1100" dirty="0"/>
          </a:p>
        </p:txBody>
      </p:sp>
      <p:sp>
        <p:nvSpPr>
          <p:cNvPr id="33" name="Text 31"/>
          <p:cNvSpPr/>
          <p:nvPr/>
        </p:nvSpPr>
        <p:spPr>
          <a:xfrm>
            <a:off x="3291840" y="267919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Developer · 5 pts</a:t>
            </a:r>
            <a:endParaRPr lang="en-US" sz="900" dirty="0"/>
          </a:p>
        </p:txBody>
      </p:sp>
      <p:sp>
        <p:nvSpPr>
          <p:cNvPr id="34" name="Shape 32"/>
          <p:cNvSpPr/>
          <p:nvPr/>
        </p:nvSpPr>
        <p:spPr>
          <a:xfrm>
            <a:off x="6144768" y="207568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35" name="Shape 33"/>
          <p:cNvSpPr/>
          <p:nvPr/>
        </p:nvSpPr>
        <p:spPr>
          <a:xfrm>
            <a:off x="6144768" y="2075688"/>
            <a:ext cx="54864" cy="841248"/>
          </a:xfrm>
          <a:prstGeom prst="rect">
            <a:avLst/>
          </a:prstGeom>
          <a:solidFill>
            <a:srgbClr val="19D9EF"/>
          </a:solidFill>
          <a:ln w="12700">
            <a:solidFill>
              <a:srgbClr val="19D9EF"/>
            </a:solidFill>
            <a:prstDash val="solid"/>
          </a:ln>
        </p:spPr>
        <p:txBody>
          <a:bodyPr/>
          <a:lstStyle/>
          <a:p>
            <a:endParaRPr lang="en-US"/>
          </a:p>
        </p:txBody>
      </p:sp>
      <p:sp>
        <p:nvSpPr>
          <p:cNvPr id="36" name="Text 34"/>
          <p:cNvSpPr/>
          <p:nvPr/>
        </p:nvSpPr>
        <p:spPr>
          <a:xfrm>
            <a:off x="6236208" y="213969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US-06</a:t>
            </a:r>
            <a:endParaRPr lang="en-US" sz="900" dirty="0"/>
          </a:p>
        </p:txBody>
      </p:sp>
      <p:sp>
        <p:nvSpPr>
          <p:cNvPr id="37" name="Text 35"/>
          <p:cNvSpPr/>
          <p:nvPr/>
        </p:nvSpPr>
        <p:spPr>
          <a:xfrm>
            <a:off x="8723376" y="213055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38" name="Text 36"/>
          <p:cNvSpPr/>
          <p:nvPr/>
        </p:nvSpPr>
        <p:spPr>
          <a:xfrm>
            <a:off x="6236208" y="235000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Create Project &amp; Add Members</a:t>
            </a:r>
            <a:endParaRPr lang="en-US" sz="1100" dirty="0"/>
          </a:p>
        </p:txBody>
      </p:sp>
      <p:sp>
        <p:nvSpPr>
          <p:cNvPr id="39" name="Text 37"/>
          <p:cNvSpPr/>
          <p:nvPr/>
        </p:nvSpPr>
        <p:spPr>
          <a:xfrm>
            <a:off x="6236208" y="267919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Project Manager · 5 pts</a:t>
            </a:r>
            <a:endParaRPr lang="en-US" sz="900" dirty="0"/>
          </a:p>
        </p:txBody>
      </p:sp>
      <p:sp>
        <p:nvSpPr>
          <p:cNvPr id="40" name="Shape 38"/>
          <p:cNvSpPr/>
          <p:nvPr/>
        </p:nvSpPr>
        <p:spPr>
          <a:xfrm>
            <a:off x="256032" y="303580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41" name="Shape 39"/>
          <p:cNvSpPr/>
          <p:nvPr/>
        </p:nvSpPr>
        <p:spPr>
          <a:xfrm>
            <a:off x="256032" y="3035808"/>
            <a:ext cx="54864" cy="841248"/>
          </a:xfrm>
          <a:prstGeom prst="rect">
            <a:avLst/>
          </a:prstGeom>
          <a:solidFill>
            <a:srgbClr val="19D9EF"/>
          </a:solidFill>
          <a:ln w="12700">
            <a:solidFill>
              <a:srgbClr val="19D9EF"/>
            </a:solidFill>
            <a:prstDash val="solid"/>
          </a:ln>
        </p:spPr>
        <p:txBody>
          <a:bodyPr/>
          <a:lstStyle/>
          <a:p>
            <a:endParaRPr lang="en-US"/>
          </a:p>
        </p:txBody>
      </p:sp>
      <p:sp>
        <p:nvSpPr>
          <p:cNvPr id="42" name="Text 40"/>
          <p:cNvSpPr/>
          <p:nvPr/>
        </p:nvSpPr>
        <p:spPr>
          <a:xfrm>
            <a:off x="347472" y="309981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US-07</a:t>
            </a:r>
            <a:endParaRPr lang="en-US" sz="900" dirty="0"/>
          </a:p>
        </p:txBody>
      </p:sp>
      <p:sp>
        <p:nvSpPr>
          <p:cNvPr id="43" name="Text 41"/>
          <p:cNvSpPr/>
          <p:nvPr/>
        </p:nvSpPr>
        <p:spPr>
          <a:xfrm>
            <a:off x="2834640" y="309067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44" name="Text 42"/>
          <p:cNvSpPr/>
          <p:nvPr/>
        </p:nvSpPr>
        <p:spPr>
          <a:xfrm>
            <a:off x="347472" y="331012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Manage Sprints</a:t>
            </a:r>
            <a:endParaRPr lang="en-US" sz="1100" dirty="0"/>
          </a:p>
        </p:txBody>
      </p:sp>
      <p:sp>
        <p:nvSpPr>
          <p:cNvPr id="45" name="Text 43"/>
          <p:cNvSpPr/>
          <p:nvPr/>
        </p:nvSpPr>
        <p:spPr>
          <a:xfrm>
            <a:off x="347472" y="363931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Project Manager · 8 pts</a:t>
            </a:r>
            <a:endParaRPr lang="en-US" sz="900" dirty="0"/>
          </a:p>
        </p:txBody>
      </p:sp>
      <p:sp>
        <p:nvSpPr>
          <p:cNvPr id="46" name="Shape 44"/>
          <p:cNvSpPr/>
          <p:nvPr/>
        </p:nvSpPr>
        <p:spPr>
          <a:xfrm>
            <a:off x="3200400" y="303580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47" name="Shape 45"/>
          <p:cNvSpPr/>
          <p:nvPr/>
        </p:nvSpPr>
        <p:spPr>
          <a:xfrm>
            <a:off x="3200400" y="3035808"/>
            <a:ext cx="54864" cy="841248"/>
          </a:xfrm>
          <a:prstGeom prst="rect">
            <a:avLst/>
          </a:prstGeom>
          <a:solidFill>
            <a:srgbClr val="19D9EF"/>
          </a:solidFill>
          <a:ln w="12700">
            <a:solidFill>
              <a:srgbClr val="19D9EF"/>
            </a:solidFill>
            <a:prstDash val="solid"/>
          </a:ln>
        </p:spPr>
        <p:txBody>
          <a:bodyPr/>
          <a:lstStyle/>
          <a:p>
            <a:endParaRPr lang="en-US"/>
          </a:p>
        </p:txBody>
      </p:sp>
      <p:sp>
        <p:nvSpPr>
          <p:cNvPr id="48" name="Text 46"/>
          <p:cNvSpPr/>
          <p:nvPr/>
        </p:nvSpPr>
        <p:spPr>
          <a:xfrm>
            <a:off x="3291840" y="309981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US-08</a:t>
            </a:r>
            <a:endParaRPr lang="en-US" sz="900" dirty="0"/>
          </a:p>
        </p:txBody>
      </p:sp>
      <p:sp>
        <p:nvSpPr>
          <p:cNvPr id="49" name="Text 47"/>
          <p:cNvSpPr/>
          <p:nvPr/>
        </p:nvSpPr>
        <p:spPr>
          <a:xfrm>
            <a:off x="5779008" y="309067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50" name="Text 48"/>
          <p:cNvSpPr/>
          <p:nvPr/>
        </p:nvSpPr>
        <p:spPr>
          <a:xfrm>
            <a:off x="3291840" y="331012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View Kanban Board</a:t>
            </a:r>
            <a:endParaRPr lang="en-US" sz="1100" dirty="0"/>
          </a:p>
        </p:txBody>
      </p:sp>
      <p:sp>
        <p:nvSpPr>
          <p:cNvPr id="51" name="Text 49"/>
          <p:cNvSpPr/>
          <p:nvPr/>
        </p:nvSpPr>
        <p:spPr>
          <a:xfrm>
            <a:off x="3291840" y="363931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Project Manager · 8 pts</a:t>
            </a:r>
            <a:endParaRPr lang="en-US" sz="900" dirty="0"/>
          </a:p>
        </p:txBody>
      </p:sp>
      <p:sp>
        <p:nvSpPr>
          <p:cNvPr id="52" name="Shape 50"/>
          <p:cNvSpPr/>
          <p:nvPr/>
        </p:nvSpPr>
        <p:spPr>
          <a:xfrm>
            <a:off x="6144768" y="303580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3" name="Shape 51"/>
          <p:cNvSpPr/>
          <p:nvPr/>
        </p:nvSpPr>
        <p:spPr>
          <a:xfrm>
            <a:off x="6144768" y="3035808"/>
            <a:ext cx="54864" cy="841248"/>
          </a:xfrm>
          <a:prstGeom prst="rect">
            <a:avLst/>
          </a:prstGeom>
          <a:solidFill>
            <a:srgbClr val="19D9EF"/>
          </a:solidFill>
          <a:ln w="12700">
            <a:solidFill>
              <a:srgbClr val="19D9EF"/>
            </a:solidFill>
            <a:prstDash val="solid"/>
          </a:ln>
        </p:spPr>
        <p:txBody>
          <a:bodyPr/>
          <a:lstStyle/>
          <a:p>
            <a:endParaRPr lang="en-US"/>
          </a:p>
        </p:txBody>
      </p:sp>
      <p:sp>
        <p:nvSpPr>
          <p:cNvPr id="54" name="Text 52"/>
          <p:cNvSpPr/>
          <p:nvPr/>
        </p:nvSpPr>
        <p:spPr>
          <a:xfrm>
            <a:off x="6236208" y="309981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US-09</a:t>
            </a:r>
            <a:endParaRPr lang="en-US" sz="900" dirty="0"/>
          </a:p>
        </p:txBody>
      </p:sp>
      <p:sp>
        <p:nvSpPr>
          <p:cNvPr id="55" name="Text 53"/>
          <p:cNvSpPr/>
          <p:nvPr/>
        </p:nvSpPr>
        <p:spPr>
          <a:xfrm>
            <a:off x="8723376" y="309067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56" name="Text 54"/>
          <p:cNvSpPr/>
          <p:nvPr/>
        </p:nvSpPr>
        <p:spPr>
          <a:xfrm>
            <a:off x="6236208" y="331012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Filter Issues</a:t>
            </a:r>
            <a:endParaRPr lang="en-US" sz="1100" dirty="0"/>
          </a:p>
        </p:txBody>
      </p:sp>
      <p:sp>
        <p:nvSpPr>
          <p:cNvPr id="57" name="Text 55"/>
          <p:cNvSpPr/>
          <p:nvPr/>
        </p:nvSpPr>
        <p:spPr>
          <a:xfrm>
            <a:off x="6236208" y="363931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Project Manager · 3 pts</a:t>
            </a:r>
            <a:endParaRPr lang="en-US" sz="900" dirty="0"/>
          </a:p>
        </p:txBody>
      </p:sp>
      <p:sp>
        <p:nvSpPr>
          <p:cNvPr id="58" name="Shape 56"/>
          <p:cNvSpPr/>
          <p:nvPr/>
        </p:nvSpPr>
        <p:spPr>
          <a:xfrm>
            <a:off x="256032" y="399592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9" name="Shape 57"/>
          <p:cNvSpPr/>
          <p:nvPr/>
        </p:nvSpPr>
        <p:spPr>
          <a:xfrm>
            <a:off x="256032" y="3995928"/>
            <a:ext cx="54864" cy="841248"/>
          </a:xfrm>
          <a:prstGeom prst="rect">
            <a:avLst/>
          </a:prstGeom>
          <a:solidFill>
            <a:srgbClr val="A78BFA"/>
          </a:solidFill>
          <a:ln w="12700">
            <a:solidFill>
              <a:srgbClr val="A78BFA"/>
            </a:solidFill>
            <a:prstDash val="solid"/>
          </a:ln>
        </p:spPr>
        <p:txBody>
          <a:bodyPr/>
          <a:lstStyle/>
          <a:p>
            <a:endParaRPr lang="en-US"/>
          </a:p>
        </p:txBody>
      </p:sp>
      <p:sp>
        <p:nvSpPr>
          <p:cNvPr id="60" name="Text 58"/>
          <p:cNvSpPr/>
          <p:nvPr/>
        </p:nvSpPr>
        <p:spPr>
          <a:xfrm>
            <a:off x="347472" y="405993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US-10</a:t>
            </a:r>
            <a:endParaRPr lang="en-US" sz="900" dirty="0"/>
          </a:p>
        </p:txBody>
      </p:sp>
      <p:sp>
        <p:nvSpPr>
          <p:cNvPr id="61" name="Text 59"/>
          <p:cNvSpPr/>
          <p:nvPr/>
        </p:nvSpPr>
        <p:spPr>
          <a:xfrm>
            <a:off x="2834640" y="405079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62" name="Text 60"/>
          <p:cNvSpPr/>
          <p:nvPr/>
        </p:nvSpPr>
        <p:spPr>
          <a:xfrm>
            <a:off x="347472" y="427024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Register and Login</a:t>
            </a:r>
            <a:endParaRPr lang="en-US" sz="1100" dirty="0"/>
          </a:p>
        </p:txBody>
      </p:sp>
      <p:sp>
        <p:nvSpPr>
          <p:cNvPr id="63" name="Text 61"/>
          <p:cNvSpPr/>
          <p:nvPr/>
        </p:nvSpPr>
        <p:spPr>
          <a:xfrm>
            <a:off x="347472" y="459943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Admin · 5 pts</a:t>
            </a:r>
            <a:endParaRPr lang="en-US" sz="900" dirty="0"/>
          </a:p>
        </p:txBody>
      </p:sp>
      <p:sp>
        <p:nvSpPr>
          <p:cNvPr id="64" name="Shape 62"/>
          <p:cNvSpPr/>
          <p:nvPr/>
        </p:nvSpPr>
        <p:spPr>
          <a:xfrm>
            <a:off x="3200400" y="399592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65" name="Shape 63"/>
          <p:cNvSpPr/>
          <p:nvPr/>
        </p:nvSpPr>
        <p:spPr>
          <a:xfrm>
            <a:off x="3200400" y="3995928"/>
            <a:ext cx="54864" cy="841248"/>
          </a:xfrm>
          <a:prstGeom prst="rect">
            <a:avLst/>
          </a:prstGeom>
          <a:solidFill>
            <a:srgbClr val="A78BFA"/>
          </a:solidFill>
          <a:ln w="12700">
            <a:solidFill>
              <a:srgbClr val="A78BFA"/>
            </a:solidFill>
            <a:prstDash val="solid"/>
          </a:ln>
        </p:spPr>
        <p:txBody>
          <a:bodyPr/>
          <a:lstStyle/>
          <a:p>
            <a:endParaRPr lang="en-US"/>
          </a:p>
        </p:txBody>
      </p:sp>
      <p:sp>
        <p:nvSpPr>
          <p:cNvPr id="66" name="Text 64"/>
          <p:cNvSpPr/>
          <p:nvPr/>
        </p:nvSpPr>
        <p:spPr>
          <a:xfrm>
            <a:off x="3291840" y="405993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US-11</a:t>
            </a:r>
            <a:endParaRPr lang="en-US" sz="900" dirty="0"/>
          </a:p>
        </p:txBody>
      </p:sp>
      <p:sp>
        <p:nvSpPr>
          <p:cNvPr id="67" name="Text 65"/>
          <p:cNvSpPr/>
          <p:nvPr/>
        </p:nvSpPr>
        <p:spPr>
          <a:xfrm>
            <a:off x="5779008" y="405079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68" name="Text 66"/>
          <p:cNvSpPr/>
          <p:nvPr/>
        </p:nvSpPr>
        <p:spPr>
          <a:xfrm>
            <a:off x="3291840" y="427024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Assign USER/ADMIN Roles</a:t>
            </a:r>
            <a:endParaRPr lang="en-US" sz="1100" dirty="0"/>
          </a:p>
        </p:txBody>
      </p:sp>
      <p:sp>
        <p:nvSpPr>
          <p:cNvPr id="69" name="Text 67"/>
          <p:cNvSpPr/>
          <p:nvPr/>
        </p:nvSpPr>
        <p:spPr>
          <a:xfrm>
            <a:off x="3291840" y="459943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Admin · 3 pts</a:t>
            </a:r>
            <a:endParaRPr lang="en-US" sz="900" dirty="0"/>
          </a:p>
        </p:txBody>
      </p:sp>
      <p:sp>
        <p:nvSpPr>
          <p:cNvPr id="70" name="Shape 68"/>
          <p:cNvSpPr/>
          <p:nvPr/>
        </p:nvSpPr>
        <p:spPr>
          <a:xfrm>
            <a:off x="6144768" y="3995928"/>
            <a:ext cx="2834640" cy="841248"/>
          </a:xfrm>
          <a:prstGeom prst="rect">
            <a:avLst/>
          </a:prstGeom>
          <a:solidFill>
            <a:srgbClr val="0E1020"/>
          </a:solidFill>
          <a:ln w="12700">
            <a:solidFill>
              <a:srgbClr val="454D7A">
                <a:alpha val="6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71" name="Shape 69"/>
          <p:cNvSpPr/>
          <p:nvPr/>
        </p:nvSpPr>
        <p:spPr>
          <a:xfrm>
            <a:off x="6144768" y="3995928"/>
            <a:ext cx="54864" cy="841248"/>
          </a:xfrm>
          <a:prstGeom prst="rect">
            <a:avLst/>
          </a:prstGeom>
          <a:solidFill>
            <a:srgbClr val="A78BFA"/>
          </a:solidFill>
          <a:ln w="12700">
            <a:solidFill>
              <a:srgbClr val="A78BFA"/>
            </a:solidFill>
            <a:prstDash val="solid"/>
          </a:ln>
        </p:spPr>
        <p:txBody>
          <a:bodyPr/>
          <a:lstStyle/>
          <a:p>
            <a:endParaRPr lang="en-US"/>
          </a:p>
        </p:txBody>
      </p:sp>
      <p:sp>
        <p:nvSpPr>
          <p:cNvPr id="72" name="Text 70"/>
          <p:cNvSpPr/>
          <p:nvPr/>
        </p:nvSpPr>
        <p:spPr>
          <a:xfrm>
            <a:off x="6236208" y="4059936"/>
            <a:ext cx="640080" cy="219456"/>
          </a:xfrm>
          <a:prstGeom prst="rect">
            <a:avLst/>
          </a:prstGeom>
          <a:noFill/>
          <a:ln/>
        </p:spPr>
        <p:txBody>
          <a:bodyPr wrap="square" lIns="0" tIns="0" rIns="0" bIns="0" rtlCol="0" anchor="ctr"/>
          <a:lstStyle/>
          <a:p>
            <a:pPr marL="0" indent="0">
              <a:buNone/>
            </a:pPr>
            <a:r>
              <a:rPr lang="en-US" sz="900" b="1" dirty="0">
                <a:solidFill>
                  <a:srgbClr val="19D9EF"/>
                </a:solidFill>
                <a:latin typeface="Calibri" pitchFamily="34" charset="0"/>
                <a:ea typeface="Calibri" pitchFamily="34" charset="-122"/>
                <a:cs typeface="Calibri" pitchFamily="34" charset="-120"/>
              </a:rPr>
              <a:t>US-12</a:t>
            </a:r>
            <a:endParaRPr lang="en-US" sz="900" dirty="0"/>
          </a:p>
        </p:txBody>
      </p:sp>
      <p:sp>
        <p:nvSpPr>
          <p:cNvPr id="73" name="Text 71"/>
          <p:cNvSpPr/>
          <p:nvPr/>
        </p:nvSpPr>
        <p:spPr>
          <a:xfrm>
            <a:off x="8723376" y="4050792"/>
            <a:ext cx="219456" cy="219456"/>
          </a:xfrm>
          <a:prstGeom prst="rect">
            <a:avLst/>
          </a:prstGeom>
          <a:noFill/>
          <a:ln/>
        </p:spPr>
        <p:txBody>
          <a:bodyPr wrap="square" lIns="0" tIns="0" rIns="0" bIns="0" rtlCol="0" anchor="ctr"/>
          <a:lstStyle/>
          <a:p>
            <a:pPr marL="0" indent="0" algn="ctr">
              <a:buNone/>
            </a:pPr>
            <a:r>
              <a:rPr lang="en-US" sz="1200" b="1" dirty="0">
                <a:solidFill>
                  <a:srgbClr val="4ADE80"/>
                </a:solidFill>
                <a:latin typeface="Calibri" pitchFamily="34" charset="0"/>
                <a:ea typeface="Calibri" pitchFamily="34" charset="-122"/>
                <a:cs typeface="Calibri" pitchFamily="34" charset="-120"/>
              </a:rPr>
              <a:t>✓</a:t>
            </a:r>
            <a:endParaRPr lang="en-US" sz="1200" dirty="0"/>
          </a:p>
        </p:txBody>
      </p:sp>
      <p:sp>
        <p:nvSpPr>
          <p:cNvPr id="74" name="Text 72"/>
          <p:cNvSpPr/>
          <p:nvPr/>
        </p:nvSpPr>
        <p:spPr>
          <a:xfrm>
            <a:off x="6236208" y="4270248"/>
            <a:ext cx="2560320" cy="329184"/>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Remove Members</a:t>
            </a:r>
            <a:endParaRPr lang="en-US" sz="1100" dirty="0"/>
          </a:p>
        </p:txBody>
      </p:sp>
      <p:sp>
        <p:nvSpPr>
          <p:cNvPr id="75" name="Text 73"/>
          <p:cNvSpPr/>
          <p:nvPr/>
        </p:nvSpPr>
        <p:spPr>
          <a:xfrm>
            <a:off x="6236208" y="4599432"/>
            <a:ext cx="2560320" cy="201168"/>
          </a:xfrm>
          <a:prstGeom prst="rect">
            <a:avLst/>
          </a:prstGeom>
          <a:noFill/>
          <a:ln/>
        </p:spPr>
        <p:txBody>
          <a:bodyPr wrap="square" lIns="0" tIns="0" rIns="0" bIns="0" rtlCol="0" anchor="ctr"/>
          <a:lstStyle/>
          <a:p>
            <a:pPr marL="0" indent="0">
              <a:buNone/>
            </a:pPr>
            <a:r>
              <a:rPr lang="en-US" sz="900" dirty="0">
                <a:solidFill>
                  <a:srgbClr val="8892C8"/>
                </a:solidFill>
                <a:latin typeface="Calibri" pitchFamily="34" charset="0"/>
                <a:ea typeface="Calibri" pitchFamily="34" charset="-122"/>
                <a:cs typeface="Calibri" pitchFamily="34" charset="-120"/>
              </a:rPr>
              <a:t>Admin · 2 pts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80F"/>
        </a:solidFill>
        <a:effectLst/>
      </p:bgPr>
    </p:bg>
    <p:spTree>
      <p:nvGrpSpPr>
        <p:cNvPr id="1" name=""/>
        <p:cNvGrpSpPr/>
        <p:nvPr/>
      </p:nvGrpSpPr>
      <p:grpSpPr>
        <a:xfrm>
          <a:off x="0" y="0"/>
          <a:ext cx="0" cy="0"/>
          <a:chOff x="0" y="0"/>
          <a:chExt cx="0" cy="0"/>
        </a:xfrm>
      </p:grpSpPr>
      <p:sp>
        <p:nvSpPr>
          <p:cNvPr id="2" name="Shape 0"/>
          <p:cNvSpPr/>
          <p:nvPr/>
        </p:nvSpPr>
        <p:spPr>
          <a:xfrm>
            <a:off x="5029200" y="0"/>
            <a:ext cx="4114800" cy="5143500"/>
          </a:xfrm>
          <a:prstGeom prst="rect">
            <a:avLst/>
          </a:prstGeom>
          <a:solidFill>
            <a:srgbClr val="060818"/>
          </a:solidFill>
          <a:ln w="12700">
            <a:solidFill>
              <a:srgbClr val="060818"/>
            </a:solidFill>
            <a:prstDash val="solid"/>
          </a:ln>
        </p:spPr>
        <p:txBody>
          <a:bodyPr/>
          <a:lstStyle/>
          <a:p>
            <a:endParaRPr lang="en-US"/>
          </a:p>
        </p:txBody>
      </p:sp>
      <p:sp>
        <p:nvSpPr>
          <p:cNvPr id="3" name="Shape 1"/>
          <p:cNvSpPr/>
          <p:nvPr/>
        </p:nvSpPr>
        <p:spPr>
          <a:xfrm>
            <a:off x="5303520" y="182880"/>
            <a:ext cx="3657600" cy="3657600"/>
          </a:xfrm>
          <a:prstGeom prst="ellipse">
            <a:avLst/>
          </a:prstGeom>
          <a:solidFill>
            <a:srgbClr val="5F80F9">
              <a:alpha val="12000"/>
            </a:srgbClr>
          </a:solidFill>
          <a:ln w="12700">
            <a:solidFill>
              <a:srgbClr val="5F80F9">
                <a:alpha val="12000"/>
              </a:srgbClr>
            </a:solidFill>
            <a:prstDash val="solid"/>
          </a:ln>
        </p:spPr>
        <p:txBody>
          <a:bodyPr/>
          <a:lstStyle/>
          <a:p>
            <a:endParaRPr lang="en-US"/>
          </a:p>
        </p:txBody>
      </p:sp>
      <p:sp>
        <p:nvSpPr>
          <p:cNvPr id="4" name="Shape 2"/>
          <p:cNvSpPr/>
          <p:nvPr/>
        </p:nvSpPr>
        <p:spPr>
          <a:xfrm>
            <a:off x="5943600" y="2286000"/>
            <a:ext cx="2286000" cy="2286000"/>
          </a:xfrm>
          <a:prstGeom prst="ellipse">
            <a:avLst/>
          </a:prstGeom>
          <a:solidFill>
            <a:srgbClr val="19D9EF">
              <a:alpha val="10000"/>
            </a:srgbClr>
          </a:solidFill>
          <a:ln w="12700">
            <a:solidFill>
              <a:srgbClr val="19D9EF">
                <a:alpha val="10000"/>
              </a:srgbClr>
            </a:solidFill>
            <a:prstDash val="solid"/>
          </a:ln>
        </p:spPr>
        <p:txBody>
          <a:bodyPr/>
          <a:lstStyle/>
          <a:p>
            <a:endParaRPr lang="en-US"/>
          </a:p>
        </p:txBody>
      </p:sp>
      <p:sp>
        <p:nvSpPr>
          <p:cNvPr id="5" name="Text 3"/>
          <p:cNvSpPr/>
          <p:nvPr/>
        </p:nvSpPr>
        <p:spPr>
          <a:xfrm>
            <a:off x="5303520" y="658368"/>
            <a:ext cx="3474720" cy="329184"/>
          </a:xfrm>
          <a:prstGeom prst="rect">
            <a:avLst/>
          </a:prstGeom>
          <a:noFill/>
          <a:ln/>
        </p:spPr>
        <p:txBody>
          <a:bodyPr wrap="square" lIns="0" tIns="0" rIns="0" bIns="0" rtlCol="0" anchor="ctr"/>
          <a:lstStyle/>
          <a:p>
            <a:pPr marL="0" indent="0" algn="ctr">
              <a:buNone/>
            </a:pPr>
            <a:r>
              <a:rPr lang="en-US" sz="1100" b="1" kern="0" spc="600" dirty="0">
                <a:solidFill>
                  <a:srgbClr val="19D9EF"/>
                </a:solidFill>
                <a:latin typeface="Calibri" pitchFamily="34" charset="0"/>
                <a:ea typeface="Calibri" pitchFamily="34" charset="-122"/>
                <a:cs typeface="Calibri" pitchFamily="34" charset="-120"/>
              </a:rPr>
              <a:t>DEMO</a:t>
            </a:r>
            <a:endParaRPr lang="en-US" sz="1100" dirty="0"/>
          </a:p>
        </p:txBody>
      </p:sp>
      <p:sp>
        <p:nvSpPr>
          <p:cNvPr id="6" name="Text 4"/>
          <p:cNvSpPr/>
          <p:nvPr/>
        </p:nvSpPr>
        <p:spPr>
          <a:xfrm>
            <a:off x="5303520" y="1005840"/>
            <a:ext cx="3474720" cy="914400"/>
          </a:xfrm>
          <a:prstGeom prst="rect">
            <a:avLst/>
          </a:prstGeom>
          <a:noFill/>
          <a:ln/>
        </p:spPr>
        <p:txBody>
          <a:bodyPr wrap="square" lIns="0" tIns="0" rIns="0" bIns="0"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Live</a:t>
            </a:r>
            <a:endParaRPr lang="en-US" sz="5600" dirty="0"/>
          </a:p>
        </p:txBody>
      </p:sp>
      <p:sp>
        <p:nvSpPr>
          <p:cNvPr id="7" name="Text 5"/>
          <p:cNvSpPr/>
          <p:nvPr/>
        </p:nvSpPr>
        <p:spPr>
          <a:xfrm>
            <a:off x="5303520" y="1965960"/>
            <a:ext cx="3474720" cy="274320"/>
          </a:xfrm>
          <a:prstGeom prst="rect">
            <a:avLst/>
          </a:prstGeom>
          <a:noFill/>
          <a:ln/>
        </p:spPr>
        <p:txBody>
          <a:bodyPr wrap="square" lIns="0" tIns="0" rIns="0" bIns="0" rtlCol="0" anchor="ctr"/>
          <a:lstStyle/>
          <a:p>
            <a:pPr marL="0" indent="0" algn="ctr">
              <a:buNone/>
            </a:pPr>
            <a:r>
              <a:rPr lang="en-US" sz="1200" dirty="0">
                <a:solidFill>
                  <a:srgbClr val="8892C8"/>
                </a:solidFill>
                <a:latin typeface="Calibri" pitchFamily="34" charset="0"/>
                <a:ea typeface="Calibri" pitchFamily="34" charset="-122"/>
                <a:cs typeface="Calibri" pitchFamily="34" charset="-120"/>
              </a:rPr>
              <a:t>Running on</a:t>
            </a:r>
            <a:endParaRPr lang="en-US" sz="1200" dirty="0"/>
          </a:p>
        </p:txBody>
      </p:sp>
      <p:sp>
        <p:nvSpPr>
          <p:cNvPr id="8" name="Shape 6"/>
          <p:cNvSpPr/>
          <p:nvPr/>
        </p:nvSpPr>
        <p:spPr>
          <a:xfrm>
            <a:off x="5376672" y="2304288"/>
            <a:ext cx="1627632" cy="640080"/>
          </a:xfrm>
          <a:prstGeom prst="roundRect">
            <a:avLst>
              <a:gd name="adj" fmla="val 14286"/>
            </a:avLst>
          </a:prstGeom>
          <a:solidFill>
            <a:srgbClr val="0E1020"/>
          </a:solidFill>
          <a:ln w="12700">
            <a:solidFill>
              <a:srgbClr val="5F80F9">
                <a:alpha val="60000"/>
              </a:srgbClr>
            </a:solidFill>
            <a:prstDash val="solid"/>
          </a:ln>
        </p:spPr>
        <p:txBody>
          <a:bodyPr/>
          <a:lstStyle/>
          <a:p>
            <a:endParaRPr lang="en-US"/>
          </a:p>
        </p:txBody>
      </p:sp>
      <p:sp>
        <p:nvSpPr>
          <p:cNvPr id="9" name="Text 7"/>
          <p:cNvSpPr/>
          <p:nvPr/>
        </p:nvSpPr>
        <p:spPr>
          <a:xfrm>
            <a:off x="5376672" y="2304288"/>
            <a:ext cx="1627632" cy="640080"/>
          </a:xfrm>
          <a:prstGeom prst="rect">
            <a:avLst/>
          </a:prstGeom>
          <a:noFill/>
          <a:ln/>
        </p:spPr>
        <p:txBody>
          <a:bodyPr wrap="square" lIns="25400" tIns="25400" rIns="25400" bIns="25400" rtlCol="0" anchor="ctr"/>
          <a:lstStyle/>
          <a:p>
            <a:pPr marL="0" indent="0" algn="ctr">
              <a:buNone/>
            </a:pPr>
            <a:r>
              <a:rPr lang="en-US" sz="900" dirty="0">
                <a:solidFill>
                  <a:srgbClr val="5F80F9"/>
                </a:solidFill>
                <a:latin typeface="Calibri" pitchFamily="34" charset="0"/>
                <a:ea typeface="Calibri" pitchFamily="34" charset="-122"/>
                <a:cs typeface="Calibri" pitchFamily="34" charset="-120"/>
              </a:rPr>
              <a:t>localhost:5173</a:t>
            </a:r>
            <a:endParaRPr lang="en-US" sz="900" dirty="0"/>
          </a:p>
          <a:p>
            <a:pPr marL="0" indent="0" algn="ctr">
              <a:buNone/>
            </a:pPr>
            <a:r>
              <a:rPr lang="en-US" sz="900" dirty="0">
                <a:solidFill>
                  <a:srgbClr val="5F80F9"/>
                </a:solidFill>
                <a:latin typeface="Calibri" pitchFamily="34" charset="0"/>
                <a:ea typeface="Calibri" pitchFamily="34" charset="-122"/>
                <a:cs typeface="Calibri" pitchFamily="34" charset="-120"/>
              </a:rPr>
              <a:t>Frontend</a:t>
            </a:r>
            <a:endParaRPr lang="en-US" sz="900" dirty="0"/>
          </a:p>
        </p:txBody>
      </p:sp>
      <p:sp>
        <p:nvSpPr>
          <p:cNvPr id="10" name="Shape 8"/>
          <p:cNvSpPr/>
          <p:nvPr/>
        </p:nvSpPr>
        <p:spPr>
          <a:xfrm>
            <a:off x="7114032" y="2304288"/>
            <a:ext cx="1627632" cy="640080"/>
          </a:xfrm>
          <a:prstGeom prst="roundRect">
            <a:avLst>
              <a:gd name="adj" fmla="val 14286"/>
            </a:avLst>
          </a:prstGeom>
          <a:solidFill>
            <a:srgbClr val="0E1020"/>
          </a:solidFill>
          <a:ln w="12700">
            <a:solidFill>
              <a:srgbClr val="19D9EF">
                <a:alpha val="60000"/>
              </a:srgbClr>
            </a:solidFill>
            <a:prstDash val="solid"/>
          </a:ln>
        </p:spPr>
        <p:txBody>
          <a:bodyPr/>
          <a:lstStyle/>
          <a:p>
            <a:endParaRPr lang="en-US"/>
          </a:p>
        </p:txBody>
      </p:sp>
      <p:sp>
        <p:nvSpPr>
          <p:cNvPr id="11" name="Text 9"/>
          <p:cNvSpPr/>
          <p:nvPr/>
        </p:nvSpPr>
        <p:spPr>
          <a:xfrm>
            <a:off x="7114032" y="2304288"/>
            <a:ext cx="1627632" cy="640080"/>
          </a:xfrm>
          <a:prstGeom prst="rect">
            <a:avLst/>
          </a:prstGeom>
          <a:noFill/>
          <a:ln/>
        </p:spPr>
        <p:txBody>
          <a:bodyPr wrap="square" lIns="25400" tIns="25400" rIns="25400" bIns="25400" rtlCol="0" anchor="ctr"/>
          <a:lstStyle/>
          <a:p>
            <a:pPr marL="0" indent="0" algn="ctr">
              <a:buNone/>
            </a:pPr>
            <a:r>
              <a:rPr lang="en-US" sz="900" dirty="0">
                <a:solidFill>
                  <a:srgbClr val="19D9EF"/>
                </a:solidFill>
                <a:latin typeface="Calibri" pitchFamily="34" charset="0"/>
                <a:ea typeface="Calibri" pitchFamily="34" charset="-122"/>
                <a:cs typeface="Calibri" pitchFamily="34" charset="-120"/>
              </a:rPr>
              <a:t>localhost:8081</a:t>
            </a:r>
            <a:endParaRPr lang="en-US" sz="900" dirty="0"/>
          </a:p>
          <a:p>
            <a:pPr marL="0" indent="0" algn="ctr">
              <a:buNone/>
            </a:pPr>
            <a:r>
              <a:rPr lang="en-US" sz="900" dirty="0">
                <a:solidFill>
                  <a:srgbClr val="19D9EF"/>
                </a:solidFill>
                <a:latin typeface="Calibri" pitchFamily="34" charset="0"/>
                <a:ea typeface="Calibri" pitchFamily="34" charset="-122"/>
                <a:cs typeface="Calibri" pitchFamily="34" charset="-120"/>
              </a:rPr>
              <a:t>Backend</a:t>
            </a:r>
            <a:endParaRPr lang="en-US" sz="900" dirty="0"/>
          </a:p>
        </p:txBody>
      </p:sp>
      <p:sp>
        <p:nvSpPr>
          <p:cNvPr id="12" name="Shape 10"/>
          <p:cNvSpPr/>
          <p:nvPr/>
        </p:nvSpPr>
        <p:spPr>
          <a:xfrm>
            <a:off x="5376672" y="3090672"/>
            <a:ext cx="3401568" cy="384048"/>
          </a:xfrm>
          <a:prstGeom prst="roundRect">
            <a:avLst>
              <a:gd name="adj" fmla="val 19048"/>
            </a:avLst>
          </a:prstGeom>
          <a:solidFill>
            <a:srgbClr val="3529D0">
              <a:alpha val="40000"/>
            </a:srgbClr>
          </a:solidFill>
          <a:ln w="12700">
            <a:solidFill>
              <a:srgbClr val="3529D0">
                <a:alpha val="70000"/>
              </a:srgbClr>
            </a:solidFill>
            <a:prstDash val="solid"/>
          </a:ln>
        </p:spPr>
        <p:txBody>
          <a:bodyPr/>
          <a:lstStyle/>
          <a:p>
            <a:endParaRPr lang="en-US"/>
          </a:p>
        </p:txBody>
      </p:sp>
      <p:sp>
        <p:nvSpPr>
          <p:cNvPr id="13" name="Text 11"/>
          <p:cNvSpPr/>
          <p:nvPr/>
        </p:nvSpPr>
        <p:spPr>
          <a:xfrm>
            <a:off x="5376672" y="3090672"/>
            <a:ext cx="3401568" cy="384048"/>
          </a:xfrm>
          <a:prstGeom prst="rect">
            <a:avLst/>
          </a:prstGeom>
          <a:noFill/>
          <a:ln/>
        </p:spPr>
        <p:txBody>
          <a:bodyPr wrap="square" lIns="0" tIns="0" rIns="0" bIns="0" rtlCol="0" anchor="ctr"/>
          <a:lstStyle/>
          <a:p>
            <a:pPr marL="0" indent="0" algn="ctr">
              <a:buNone/>
            </a:pPr>
            <a:r>
              <a:rPr lang="en-US" sz="1000" dirty="0">
                <a:solidFill>
                  <a:srgbClr val="EEF0FF"/>
                </a:solidFill>
                <a:latin typeface="Calibri" pitchFamily="34" charset="0"/>
                <a:ea typeface="Calibri" pitchFamily="34" charset="-122"/>
                <a:cs typeface="Calibri" pitchFamily="34" charset="-120"/>
              </a:rPr>
              <a:t>📋  README.md has full setup instructions</a:t>
            </a:r>
            <a:endParaRPr lang="en-US" sz="1000" dirty="0"/>
          </a:p>
        </p:txBody>
      </p:sp>
      <p:sp>
        <p:nvSpPr>
          <p:cNvPr id="14" name="Text 12"/>
          <p:cNvSpPr/>
          <p:nvPr/>
        </p:nvSpPr>
        <p:spPr>
          <a:xfrm>
            <a:off x="347472" y="274320"/>
            <a:ext cx="438912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Demo Flow</a:t>
            </a:r>
            <a:endParaRPr lang="en-US" sz="2800" dirty="0"/>
          </a:p>
        </p:txBody>
      </p:sp>
      <p:sp>
        <p:nvSpPr>
          <p:cNvPr id="15" name="Text 13"/>
          <p:cNvSpPr/>
          <p:nvPr/>
        </p:nvSpPr>
        <p:spPr>
          <a:xfrm>
            <a:off x="347472" y="786384"/>
            <a:ext cx="4389120" cy="256032"/>
          </a:xfrm>
          <a:prstGeom prst="rect">
            <a:avLst/>
          </a:prstGeom>
          <a:noFill/>
          <a:ln/>
        </p:spPr>
        <p:txBody>
          <a:bodyPr wrap="square" lIns="0" tIns="0" rIns="0" bIns="0" rtlCol="0" anchor="ctr"/>
          <a:lstStyle/>
          <a:p>
            <a:pPr marL="0" indent="0">
              <a:buNone/>
            </a:pPr>
            <a:r>
              <a:rPr lang="en-US" sz="1200" dirty="0">
                <a:solidFill>
                  <a:srgbClr val="8892C8"/>
                </a:solidFill>
                <a:latin typeface="Calibri" pitchFamily="34" charset="0"/>
                <a:ea typeface="Calibri" pitchFamily="34" charset="-122"/>
                <a:cs typeface="Calibri" pitchFamily="34" charset="-120"/>
              </a:rPr>
              <a:t>Follow this sequence during the live demo</a:t>
            </a:r>
            <a:endParaRPr lang="en-US" sz="1200" dirty="0"/>
          </a:p>
        </p:txBody>
      </p:sp>
      <p:sp>
        <p:nvSpPr>
          <p:cNvPr id="16" name="Shape 14"/>
          <p:cNvSpPr/>
          <p:nvPr/>
        </p:nvSpPr>
        <p:spPr>
          <a:xfrm>
            <a:off x="347472" y="1225296"/>
            <a:ext cx="402336" cy="402336"/>
          </a:xfrm>
          <a:prstGeom prst="ellipse">
            <a:avLst/>
          </a:prstGeom>
          <a:solidFill>
            <a:srgbClr val="3529D0"/>
          </a:solidFill>
          <a:ln w="12700">
            <a:solidFill>
              <a:srgbClr val="5F80F9">
                <a:alpha val="80000"/>
              </a:srgbClr>
            </a:solidFill>
            <a:prstDash val="solid"/>
          </a:ln>
        </p:spPr>
        <p:txBody>
          <a:bodyPr/>
          <a:lstStyle/>
          <a:p>
            <a:endParaRPr lang="en-US"/>
          </a:p>
        </p:txBody>
      </p:sp>
      <p:sp>
        <p:nvSpPr>
          <p:cNvPr id="17" name="Text 15"/>
          <p:cNvSpPr/>
          <p:nvPr/>
        </p:nvSpPr>
        <p:spPr>
          <a:xfrm>
            <a:off x="347472" y="1225296"/>
            <a:ext cx="402336" cy="402336"/>
          </a:xfrm>
          <a:prstGeom prst="rect">
            <a:avLst/>
          </a:prstGeom>
          <a:noFill/>
          <a:ln/>
        </p:spPr>
        <p:txBody>
          <a:bodyPr wrap="square" lIns="0" tIns="0" rIns="0" bIns="0" rtlCol="0" anchor="ctr"/>
          <a:lstStyle/>
          <a:p>
            <a:pPr marL="0" indent="0" algn="ctr">
              <a:buNone/>
            </a:pPr>
            <a:r>
              <a:rPr lang="en-US" sz="1000" b="1" dirty="0">
                <a:solidFill>
                  <a:srgbClr val="19D9EF"/>
                </a:solidFill>
                <a:latin typeface="Calibri" pitchFamily="34" charset="0"/>
                <a:ea typeface="Calibri" pitchFamily="34" charset="-122"/>
                <a:cs typeface="Calibri" pitchFamily="34" charset="-120"/>
              </a:rPr>
              <a:t>01</a:t>
            </a:r>
            <a:endParaRPr lang="en-US" sz="1000" dirty="0"/>
          </a:p>
        </p:txBody>
      </p:sp>
      <p:sp>
        <p:nvSpPr>
          <p:cNvPr id="18" name="Text 16"/>
          <p:cNvSpPr/>
          <p:nvPr/>
        </p:nvSpPr>
        <p:spPr>
          <a:xfrm>
            <a:off x="841248" y="1225296"/>
            <a:ext cx="219456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Register → Login</a:t>
            </a:r>
            <a:endParaRPr lang="en-US" sz="1300" dirty="0"/>
          </a:p>
        </p:txBody>
      </p:sp>
      <p:sp>
        <p:nvSpPr>
          <p:cNvPr id="19" name="Text 17"/>
          <p:cNvSpPr/>
          <p:nvPr/>
        </p:nvSpPr>
        <p:spPr>
          <a:xfrm>
            <a:off x="841248" y="1444752"/>
            <a:ext cx="3931920" cy="201168"/>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JWT token issued, role set to USER</a:t>
            </a:r>
            <a:endParaRPr lang="en-US" sz="1000" dirty="0"/>
          </a:p>
        </p:txBody>
      </p:sp>
      <p:sp>
        <p:nvSpPr>
          <p:cNvPr id="20" name="Shape 18"/>
          <p:cNvSpPr/>
          <p:nvPr/>
        </p:nvSpPr>
        <p:spPr>
          <a:xfrm>
            <a:off x="530352" y="1627632"/>
            <a:ext cx="27432" cy="237744"/>
          </a:xfrm>
          <a:prstGeom prst="rect">
            <a:avLst/>
          </a:prstGeom>
          <a:solidFill>
            <a:srgbClr val="454D7A">
              <a:alpha val="60000"/>
            </a:srgbClr>
          </a:solidFill>
          <a:ln w="12700">
            <a:solidFill>
              <a:srgbClr val="454D7A">
                <a:alpha val="60000"/>
              </a:srgbClr>
            </a:solidFill>
            <a:prstDash val="solid"/>
          </a:ln>
        </p:spPr>
        <p:txBody>
          <a:bodyPr/>
          <a:lstStyle/>
          <a:p>
            <a:endParaRPr lang="en-US"/>
          </a:p>
        </p:txBody>
      </p:sp>
      <p:sp>
        <p:nvSpPr>
          <p:cNvPr id="21" name="Shape 19"/>
          <p:cNvSpPr/>
          <p:nvPr/>
        </p:nvSpPr>
        <p:spPr>
          <a:xfrm>
            <a:off x="347472" y="1883664"/>
            <a:ext cx="402336" cy="402336"/>
          </a:xfrm>
          <a:prstGeom prst="ellipse">
            <a:avLst/>
          </a:prstGeom>
          <a:solidFill>
            <a:srgbClr val="3529D0"/>
          </a:solidFill>
          <a:ln w="12700">
            <a:solidFill>
              <a:srgbClr val="5F80F9">
                <a:alpha val="80000"/>
              </a:srgbClr>
            </a:solidFill>
            <a:prstDash val="solid"/>
          </a:ln>
        </p:spPr>
        <p:txBody>
          <a:bodyPr/>
          <a:lstStyle/>
          <a:p>
            <a:endParaRPr lang="en-US"/>
          </a:p>
        </p:txBody>
      </p:sp>
      <p:sp>
        <p:nvSpPr>
          <p:cNvPr id="22" name="Text 20"/>
          <p:cNvSpPr/>
          <p:nvPr/>
        </p:nvSpPr>
        <p:spPr>
          <a:xfrm>
            <a:off x="347472" y="1883664"/>
            <a:ext cx="402336" cy="402336"/>
          </a:xfrm>
          <a:prstGeom prst="rect">
            <a:avLst/>
          </a:prstGeom>
          <a:noFill/>
          <a:ln/>
        </p:spPr>
        <p:txBody>
          <a:bodyPr wrap="square" lIns="0" tIns="0" rIns="0" bIns="0" rtlCol="0" anchor="ctr"/>
          <a:lstStyle/>
          <a:p>
            <a:pPr marL="0" indent="0" algn="ctr">
              <a:buNone/>
            </a:pPr>
            <a:r>
              <a:rPr lang="en-US" sz="1000" b="1" dirty="0">
                <a:solidFill>
                  <a:srgbClr val="19D9EF"/>
                </a:solidFill>
                <a:latin typeface="Calibri" pitchFamily="34" charset="0"/>
                <a:ea typeface="Calibri" pitchFamily="34" charset="-122"/>
                <a:cs typeface="Calibri" pitchFamily="34" charset="-120"/>
              </a:rPr>
              <a:t>02</a:t>
            </a:r>
            <a:endParaRPr lang="en-US" sz="1000" dirty="0"/>
          </a:p>
        </p:txBody>
      </p:sp>
      <p:sp>
        <p:nvSpPr>
          <p:cNvPr id="23" name="Text 21"/>
          <p:cNvSpPr/>
          <p:nvPr/>
        </p:nvSpPr>
        <p:spPr>
          <a:xfrm>
            <a:off x="841248" y="1883664"/>
            <a:ext cx="219456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Create Project</a:t>
            </a:r>
            <a:endParaRPr lang="en-US" sz="1300" dirty="0"/>
          </a:p>
        </p:txBody>
      </p:sp>
      <p:sp>
        <p:nvSpPr>
          <p:cNvPr id="24" name="Text 22"/>
          <p:cNvSpPr/>
          <p:nvPr/>
        </p:nvSpPr>
        <p:spPr>
          <a:xfrm>
            <a:off x="841248" y="2103120"/>
            <a:ext cx="3931920" cy="201168"/>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Add team members from the user list</a:t>
            </a:r>
            <a:endParaRPr lang="en-US" sz="1000" dirty="0"/>
          </a:p>
        </p:txBody>
      </p:sp>
      <p:sp>
        <p:nvSpPr>
          <p:cNvPr id="25" name="Shape 23"/>
          <p:cNvSpPr/>
          <p:nvPr/>
        </p:nvSpPr>
        <p:spPr>
          <a:xfrm>
            <a:off x="530352" y="2286000"/>
            <a:ext cx="27432" cy="237744"/>
          </a:xfrm>
          <a:prstGeom prst="rect">
            <a:avLst/>
          </a:prstGeom>
          <a:solidFill>
            <a:srgbClr val="454D7A">
              <a:alpha val="60000"/>
            </a:srgbClr>
          </a:solidFill>
          <a:ln w="12700">
            <a:solidFill>
              <a:srgbClr val="454D7A">
                <a:alpha val="60000"/>
              </a:srgbClr>
            </a:solidFill>
            <a:prstDash val="solid"/>
          </a:ln>
        </p:spPr>
        <p:txBody>
          <a:bodyPr/>
          <a:lstStyle/>
          <a:p>
            <a:endParaRPr lang="en-US"/>
          </a:p>
        </p:txBody>
      </p:sp>
      <p:sp>
        <p:nvSpPr>
          <p:cNvPr id="26" name="Shape 24"/>
          <p:cNvSpPr/>
          <p:nvPr/>
        </p:nvSpPr>
        <p:spPr>
          <a:xfrm>
            <a:off x="347472" y="2542032"/>
            <a:ext cx="402336" cy="402336"/>
          </a:xfrm>
          <a:prstGeom prst="ellipse">
            <a:avLst/>
          </a:prstGeom>
          <a:solidFill>
            <a:srgbClr val="3529D0"/>
          </a:solidFill>
          <a:ln w="12700">
            <a:solidFill>
              <a:srgbClr val="5F80F9">
                <a:alpha val="80000"/>
              </a:srgbClr>
            </a:solidFill>
            <a:prstDash val="solid"/>
          </a:ln>
        </p:spPr>
        <p:txBody>
          <a:bodyPr/>
          <a:lstStyle/>
          <a:p>
            <a:endParaRPr lang="en-US"/>
          </a:p>
        </p:txBody>
      </p:sp>
      <p:sp>
        <p:nvSpPr>
          <p:cNvPr id="27" name="Text 25"/>
          <p:cNvSpPr/>
          <p:nvPr/>
        </p:nvSpPr>
        <p:spPr>
          <a:xfrm>
            <a:off x="347472" y="2542032"/>
            <a:ext cx="402336" cy="402336"/>
          </a:xfrm>
          <a:prstGeom prst="rect">
            <a:avLst/>
          </a:prstGeom>
          <a:noFill/>
          <a:ln/>
        </p:spPr>
        <p:txBody>
          <a:bodyPr wrap="square" lIns="0" tIns="0" rIns="0" bIns="0" rtlCol="0" anchor="ctr"/>
          <a:lstStyle/>
          <a:p>
            <a:pPr marL="0" indent="0" algn="ctr">
              <a:buNone/>
            </a:pPr>
            <a:r>
              <a:rPr lang="en-US" sz="1000" b="1" dirty="0">
                <a:solidFill>
                  <a:srgbClr val="19D9EF"/>
                </a:solidFill>
                <a:latin typeface="Calibri" pitchFamily="34" charset="0"/>
                <a:ea typeface="Calibri" pitchFamily="34" charset="-122"/>
                <a:cs typeface="Calibri" pitchFamily="34" charset="-120"/>
              </a:rPr>
              <a:t>03</a:t>
            </a:r>
            <a:endParaRPr lang="en-US" sz="1000" dirty="0"/>
          </a:p>
        </p:txBody>
      </p:sp>
      <p:sp>
        <p:nvSpPr>
          <p:cNvPr id="28" name="Text 26"/>
          <p:cNvSpPr/>
          <p:nvPr/>
        </p:nvSpPr>
        <p:spPr>
          <a:xfrm>
            <a:off x="841248" y="2542032"/>
            <a:ext cx="219456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Sprint Planning</a:t>
            </a:r>
            <a:endParaRPr lang="en-US" sz="1300" dirty="0"/>
          </a:p>
        </p:txBody>
      </p:sp>
      <p:sp>
        <p:nvSpPr>
          <p:cNvPr id="29" name="Text 27"/>
          <p:cNvSpPr/>
          <p:nvPr/>
        </p:nvSpPr>
        <p:spPr>
          <a:xfrm>
            <a:off x="841248" y="2761488"/>
            <a:ext cx="3931920" cy="201168"/>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Create sprint → Add issues → Start sprint</a:t>
            </a:r>
            <a:endParaRPr lang="en-US" sz="1000" dirty="0"/>
          </a:p>
        </p:txBody>
      </p:sp>
      <p:sp>
        <p:nvSpPr>
          <p:cNvPr id="30" name="Shape 28"/>
          <p:cNvSpPr/>
          <p:nvPr/>
        </p:nvSpPr>
        <p:spPr>
          <a:xfrm>
            <a:off x="530352" y="2944368"/>
            <a:ext cx="27432" cy="237744"/>
          </a:xfrm>
          <a:prstGeom prst="rect">
            <a:avLst/>
          </a:prstGeom>
          <a:solidFill>
            <a:srgbClr val="454D7A">
              <a:alpha val="60000"/>
            </a:srgbClr>
          </a:solidFill>
          <a:ln w="12700">
            <a:solidFill>
              <a:srgbClr val="454D7A">
                <a:alpha val="60000"/>
              </a:srgbClr>
            </a:solidFill>
            <a:prstDash val="solid"/>
          </a:ln>
        </p:spPr>
        <p:txBody>
          <a:bodyPr/>
          <a:lstStyle/>
          <a:p>
            <a:endParaRPr lang="en-US"/>
          </a:p>
        </p:txBody>
      </p:sp>
      <p:sp>
        <p:nvSpPr>
          <p:cNvPr id="31" name="Shape 29"/>
          <p:cNvSpPr/>
          <p:nvPr/>
        </p:nvSpPr>
        <p:spPr>
          <a:xfrm>
            <a:off x="347472" y="3200400"/>
            <a:ext cx="402336" cy="402336"/>
          </a:xfrm>
          <a:prstGeom prst="ellipse">
            <a:avLst/>
          </a:prstGeom>
          <a:solidFill>
            <a:srgbClr val="0B0D1A"/>
          </a:solidFill>
          <a:ln w="12700">
            <a:solidFill>
              <a:srgbClr val="454D7A">
                <a:alpha val="80000"/>
              </a:srgbClr>
            </a:solidFill>
            <a:prstDash val="solid"/>
          </a:ln>
        </p:spPr>
        <p:txBody>
          <a:bodyPr/>
          <a:lstStyle/>
          <a:p>
            <a:endParaRPr lang="en-US"/>
          </a:p>
        </p:txBody>
      </p:sp>
      <p:sp>
        <p:nvSpPr>
          <p:cNvPr id="32" name="Text 30"/>
          <p:cNvSpPr/>
          <p:nvPr/>
        </p:nvSpPr>
        <p:spPr>
          <a:xfrm>
            <a:off x="347472" y="3200400"/>
            <a:ext cx="402336" cy="402336"/>
          </a:xfrm>
          <a:prstGeom prst="rect">
            <a:avLst/>
          </a:prstGeom>
          <a:noFill/>
          <a:ln/>
        </p:spPr>
        <p:txBody>
          <a:bodyPr wrap="square" lIns="0" tIns="0" rIns="0" bIns="0" rtlCol="0" anchor="ctr"/>
          <a:lstStyle/>
          <a:p>
            <a:pPr marL="0" indent="0" algn="ctr">
              <a:buNone/>
            </a:pPr>
            <a:r>
              <a:rPr lang="en-US" sz="1000" b="1" dirty="0">
                <a:solidFill>
                  <a:srgbClr val="8892C8"/>
                </a:solidFill>
                <a:latin typeface="Calibri" pitchFamily="34" charset="0"/>
                <a:ea typeface="Calibri" pitchFamily="34" charset="-122"/>
                <a:cs typeface="Calibri" pitchFamily="34" charset="-120"/>
              </a:rPr>
              <a:t>04</a:t>
            </a:r>
            <a:endParaRPr lang="en-US" sz="1000" dirty="0"/>
          </a:p>
        </p:txBody>
      </p:sp>
      <p:sp>
        <p:nvSpPr>
          <p:cNvPr id="33" name="Text 31"/>
          <p:cNvSpPr/>
          <p:nvPr/>
        </p:nvSpPr>
        <p:spPr>
          <a:xfrm>
            <a:off x="841248" y="3200400"/>
            <a:ext cx="219456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Kanban Board</a:t>
            </a:r>
            <a:endParaRPr lang="en-US" sz="1300" dirty="0"/>
          </a:p>
        </p:txBody>
      </p:sp>
      <p:sp>
        <p:nvSpPr>
          <p:cNvPr id="34" name="Text 32"/>
          <p:cNvSpPr/>
          <p:nvPr/>
        </p:nvSpPr>
        <p:spPr>
          <a:xfrm>
            <a:off x="841248" y="3419856"/>
            <a:ext cx="3931920" cy="201168"/>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Move issues ← → through 4 columns</a:t>
            </a:r>
            <a:endParaRPr lang="en-US" sz="1000" dirty="0"/>
          </a:p>
        </p:txBody>
      </p:sp>
      <p:sp>
        <p:nvSpPr>
          <p:cNvPr id="35" name="Shape 33"/>
          <p:cNvSpPr/>
          <p:nvPr/>
        </p:nvSpPr>
        <p:spPr>
          <a:xfrm>
            <a:off x="530352" y="3602736"/>
            <a:ext cx="27432" cy="237744"/>
          </a:xfrm>
          <a:prstGeom prst="rect">
            <a:avLst/>
          </a:prstGeom>
          <a:solidFill>
            <a:srgbClr val="454D7A">
              <a:alpha val="60000"/>
            </a:srgbClr>
          </a:solidFill>
          <a:ln w="12700">
            <a:solidFill>
              <a:srgbClr val="454D7A">
                <a:alpha val="60000"/>
              </a:srgbClr>
            </a:solidFill>
            <a:prstDash val="solid"/>
          </a:ln>
        </p:spPr>
        <p:txBody>
          <a:bodyPr/>
          <a:lstStyle/>
          <a:p>
            <a:endParaRPr lang="en-US"/>
          </a:p>
        </p:txBody>
      </p:sp>
      <p:sp>
        <p:nvSpPr>
          <p:cNvPr id="36" name="Shape 34"/>
          <p:cNvSpPr/>
          <p:nvPr/>
        </p:nvSpPr>
        <p:spPr>
          <a:xfrm>
            <a:off x="347472" y="3858768"/>
            <a:ext cx="402336" cy="402336"/>
          </a:xfrm>
          <a:prstGeom prst="ellipse">
            <a:avLst/>
          </a:prstGeom>
          <a:solidFill>
            <a:srgbClr val="0B0D1A"/>
          </a:solidFill>
          <a:ln w="12700">
            <a:solidFill>
              <a:srgbClr val="454D7A">
                <a:alpha val="80000"/>
              </a:srgbClr>
            </a:solidFill>
            <a:prstDash val="solid"/>
          </a:ln>
        </p:spPr>
        <p:txBody>
          <a:bodyPr/>
          <a:lstStyle/>
          <a:p>
            <a:endParaRPr lang="en-US"/>
          </a:p>
        </p:txBody>
      </p:sp>
      <p:sp>
        <p:nvSpPr>
          <p:cNvPr id="37" name="Text 35"/>
          <p:cNvSpPr/>
          <p:nvPr/>
        </p:nvSpPr>
        <p:spPr>
          <a:xfrm>
            <a:off x="347472" y="3858768"/>
            <a:ext cx="402336" cy="402336"/>
          </a:xfrm>
          <a:prstGeom prst="rect">
            <a:avLst/>
          </a:prstGeom>
          <a:noFill/>
          <a:ln/>
        </p:spPr>
        <p:txBody>
          <a:bodyPr wrap="square" lIns="0" tIns="0" rIns="0" bIns="0" rtlCol="0" anchor="ctr"/>
          <a:lstStyle/>
          <a:p>
            <a:pPr marL="0" indent="0" algn="ctr">
              <a:buNone/>
            </a:pPr>
            <a:r>
              <a:rPr lang="en-US" sz="1000" b="1" dirty="0">
                <a:solidFill>
                  <a:srgbClr val="8892C8"/>
                </a:solidFill>
                <a:latin typeface="Calibri" pitchFamily="34" charset="0"/>
                <a:ea typeface="Calibri" pitchFamily="34" charset="-122"/>
                <a:cs typeface="Calibri" pitchFamily="34" charset="-120"/>
              </a:rPr>
              <a:t>05</a:t>
            </a:r>
            <a:endParaRPr lang="en-US" sz="1000" dirty="0"/>
          </a:p>
        </p:txBody>
      </p:sp>
      <p:sp>
        <p:nvSpPr>
          <p:cNvPr id="38" name="Text 36"/>
          <p:cNvSpPr/>
          <p:nvPr/>
        </p:nvSpPr>
        <p:spPr>
          <a:xfrm>
            <a:off x="841248" y="3858768"/>
            <a:ext cx="219456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Notifications</a:t>
            </a:r>
            <a:endParaRPr lang="en-US" sz="1300" dirty="0"/>
          </a:p>
        </p:txBody>
      </p:sp>
      <p:sp>
        <p:nvSpPr>
          <p:cNvPr id="39" name="Text 37"/>
          <p:cNvSpPr/>
          <p:nvPr/>
        </p:nvSpPr>
        <p:spPr>
          <a:xfrm>
            <a:off x="841248" y="4078224"/>
            <a:ext cx="3931920" cy="201168"/>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Comment on issue → bell updates live</a:t>
            </a:r>
            <a:endParaRPr lang="en-US" sz="1000" dirty="0"/>
          </a:p>
        </p:txBody>
      </p:sp>
      <p:sp>
        <p:nvSpPr>
          <p:cNvPr id="40" name="Shape 38"/>
          <p:cNvSpPr/>
          <p:nvPr/>
        </p:nvSpPr>
        <p:spPr>
          <a:xfrm>
            <a:off x="530352" y="4261104"/>
            <a:ext cx="27432" cy="237744"/>
          </a:xfrm>
          <a:prstGeom prst="rect">
            <a:avLst/>
          </a:prstGeom>
          <a:solidFill>
            <a:srgbClr val="454D7A">
              <a:alpha val="60000"/>
            </a:srgbClr>
          </a:solidFill>
          <a:ln w="12700">
            <a:solidFill>
              <a:srgbClr val="454D7A">
                <a:alpha val="60000"/>
              </a:srgbClr>
            </a:solidFill>
            <a:prstDash val="solid"/>
          </a:ln>
        </p:spPr>
        <p:txBody>
          <a:bodyPr/>
          <a:lstStyle/>
          <a:p>
            <a:endParaRPr lang="en-US"/>
          </a:p>
        </p:txBody>
      </p:sp>
      <p:sp>
        <p:nvSpPr>
          <p:cNvPr id="41" name="Shape 39"/>
          <p:cNvSpPr/>
          <p:nvPr/>
        </p:nvSpPr>
        <p:spPr>
          <a:xfrm>
            <a:off x="347472" y="4517136"/>
            <a:ext cx="402336" cy="402336"/>
          </a:xfrm>
          <a:prstGeom prst="ellipse">
            <a:avLst/>
          </a:prstGeom>
          <a:solidFill>
            <a:srgbClr val="0B0D1A"/>
          </a:solidFill>
          <a:ln w="12700">
            <a:solidFill>
              <a:srgbClr val="454D7A">
                <a:alpha val="80000"/>
              </a:srgbClr>
            </a:solidFill>
            <a:prstDash val="solid"/>
          </a:ln>
        </p:spPr>
        <p:txBody>
          <a:bodyPr/>
          <a:lstStyle/>
          <a:p>
            <a:endParaRPr lang="en-US"/>
          </a:p>
        </p:txBody>
      </p:sp>
      <p:sp>
        <p:nvSpPr>
          <p:cNvPr id="42" name="Text 40"/>
          <p:cNvSpPr/>
          <p:nvPr/>
        </p:nvSpPr>
        <p:spPr>
          <a:xfrm>
            <a:off x="347472" y="4517136"/>
            <a:ext cx="402336" cy="402336"/>
          </a:xfrm>
          <a:prstGeom prst="rect">
            <a:avLst/>
          </a:prstGeom>
          <a:noFill/>
          <a:ln/>
        </p:spPr>
        <p:txBody>
          <a:bodyPr wrap="square" lIns="0" tIns="0" rIns="0" bIns="0" rtlCol="0" anchor="ctr"/>
          <a:lstStyle/>
          <a:p>
            <a:pPr marL="0" indent="0" algn="ctr">
              <a:buNone/>
            </a:pPr>
            <a:r>
              <a:rPr lang="en-US" sz="1000" b="1" dirty="0">
                <a:solidFill>
                  <a:srgbClr val="8892C8"/>
                </a:solidFill>
                <a:latin typeface="Calibri" pitchFamily="34" charset="0"/>
                <a:ea typeface="Calibri" pitchFamily="34" charset="-122"/>
                <a:cs typeface="Calibri" pitchFamily="34" charset="-120"/>
              </a:rPr>
              <a:t>06</a:t>
            </a:r>
            <a:endParaRPr lang="en-US" sz="1000" dirty="0"/>
          </a:p>
        </p:txBody>
      </p:sp>
      <p:sp>
        <p:nvSpPr>
          <p:cNvPr id="43" name="Text 41"/>
          <p:cNvSpPr/>
          <p:nvPr/>
        </p:nvSpPr>
        <p:spPr>
          <a:xfrm>
            <a:off x="841248" y="4517136"/>
            <a:ext cx="219456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Admin Panel</a:t>
            </a:r>
            <a:endParaRPr lang="en-US" sz="1300" dirty="0"/>
          </a:p>
        </p:txBody>
      </p:sp>
      <p:sp>
        <p:nvSpPr>
          <p:cNvPr id="44" name="Text 42"/>
          <p:cNvSpPr/>
          <p:nvPr/>
        </p:nvSpPr>
        <p:spPr>
          <a:xfrm>
            <a:off x="841248" y="4736592"/>
            <a:ext cx="3931920" cy="201168"/>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Promote a user to ADMIN role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80F"/>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530352"/>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Technical Deep Dive</a:t>
            </a:r>
            <a:endParaRPr lang="en-US" sz="3000" dirty="0"/>
          </a:p>
        </p:txBody>
      </p:sp>
      <p:sp>
        <p:nvSpPr>
          <p:cNvPr id="3" name="Shape 1"/>
          <p:cNvSpPr/>
          <p:nvPr/>
        </p:nvSpPr>
        <p:spPr>
          <a:xfrm>
            <a:off x="256032" y="822960"/>
            <a:ext cx="5120640" cy="4114800"/>
          </a:xfrm>
          <a:prstGeom prst="rect">
            <a:avLst/>
          </a:prstGeom>
          <a:solidFill>
            <a:srgbClr val="0D1117"/>
          </a:solidFill>
          <a:ln w="12700">
            <a:solidFill>
              <a:srgbClr val="5F80F9">
                <a:alpha val="40000"/>
              </a:srgbClr>
            </a:solidFill>
            <a:prstDash val="solid"/>
          </a:ln>
        </p:spPr>
        <p:txBody>
          <a:bodyPr/>
          <a:lstStyle/>
          <a:p>
            <a:endParaRPr lang="en-US"/>
          </a:p>
        </p:txBody>
      </p:sp>
      <p:sp>
        <p:nvSpPr>
          <p:cNvPr id="4" name="Text 2"/>
          <p:cNvSpPr/>
          <p:nvPr/>
        </p:nvSpPr>
        <p:spPr>
          <a:xfrm>
            <a:off x="347472" y="896112"/>
            <a:ext cx="4937760" cy="256032"/>
          </a:xfrm>
          <a:prstGeom prst="rect">
            <a:avLst/>
          </a:prstGeom>
          <a:noFill/>
          <a:ln/>
        </p:spPr>
        <p:txBody>
          <a:bodyPr wrap="square" lIns="0" tIns="0" rIns="0" bIns="0" rtlCol="0" anchor="ctr"/>
          <a:lstStyle/>
          <a:p>
            <a:pPr marL="0" indent="0">
              <a:buNone/>
            </a:pPr>
            <a:r>
              <a:rPr lang="en-US" sz="850" dirty="0">
                <a:solidFill>
                  <a:srgbClr val="6B7280"/>
                </a:solidFill>
                <a:latin typeface="Consolas" pitchFamily="34" charset="0"/>
                <a:ea typeface="Consolas" pitchFamily="34" charset="-122"/>
                <a:cs typeface="Consolas" pitchFamily="34" charset="-120"/>
              </a:rPr>
              <a:t>// IssueService.java — Status update with full audit trail</a:t>
            </a:r>
            <a:endParaRPr lang="en-US" sz="850" dirty="0"/>
          </a:p>
        </p:txBody>
      </p:sp>
      <p:sp>
        <p:nvSpPr>
          <p:cNvPr id="5" name="Text 3"/>
          <p:cNvSpPr/>
          <p:nvPr/>
        </p:nvSpPr>
        <p:spPr>
          <a:xfrm>
            <a:off x="347472" y="1188720"/>
            <a:ext cx="4937760" cy="3657600"/>
          </a:xfrm>
          <a:prstGeom prst="rect">
            <a:avLst/>
          </a:prstGeom>
          <a:noFill/>
          <a:ln/>
        </p:spPr>
        <p:txBody>
          <a:bodyPr wrap="square" lIns="50800" tIns="50800" rIns="50800" bIns="50800" rtlCol="0" anchor="t"/>
          <a:lstStyle/>
          <a:p>
            <a:pPr marL="0" indent="0">
              <a:buNone/>
            </a:pPr>
            <a:r>
              <a:rPr lang="en-US" sz="950" dirty="0">
                <a:solidFill>
                  <a:srgbClr val="A78BFA"/>
                </a:solidFill>
                <a:latin typeface="Consolas" pitchFamily="34" charset="0"/>
                <a:ea typeface="Consolas" pitchFamily="34" charset="-122"/>
                <a:cs typeface="Consolas" pitchFamily="34" charset="-120"/>
              </a:rPr>
              <a:t>public </a:t>
            </a:r>
            <a:r>
              <a:rPr lang="en-US" sz="950" dirty="0">
                <a:solidFill>
                  <a:srgbClr val="FACC15"/>
                </a:solidFill>
                <a:latin typeface="Consolas" pitchFamily="34" charset="0"/>
                <a:ea typeface="Consolas" pitchFamily="34" charset="-122"/>
                <a:cs typeface="Consolas" pitchFamily="34" charset="-120"/>
              </a:rPr>
              <a:t>Issue </a:t>
            </a:r>
            <a:r>
              <a:rPr lang="en-US" sz="950" dirty="0">
                <a:solidFill>
                  <a:srgbClr val="EEF0FF"/>
                </a:solidFill>
                <a:latin typeface="Consolas" pitchFamily="34" charset="0"/>
                <a:ea typeface="Consolas" pitchFamily="34" charset="-122"/>
                <a:cs typeface="Consolas" pitchFamily="34" charset="-120"/>
              </a:rPr>
              <a:t>updateStatus(Long issueId,
    Issue.IssueStatus newStatus, User changedBy) {
</a:t>
            </a:r>
            <a:r>
              <a:rPr lang="en-US" sz="950" dirty="0">
                <a:solidFill>
                  <a:srgbClr val="6B7280"/>
                </a:solidFill>
                <a:latin typeface="Consolas" pitchFamily="34" charset="0"/>
                <a:ea typeface="Consolas" pitchFamily="34" charset="-122"/>
                <a:cs typeface="Consolas" pitchFamily="34" charset="-120"/>
              </a:rPr>
              <a:t>  // 1. Write audit trail BEFORE updating
</a:t>
            </a:r>
            <a:r>
              <a:rPr lang="en-US" sz="950" dirty="0">
                <a:solidFill>
                  <a:srgbClr val="EEF0FF"/>
                </a:solidFill>
                <a:latin typeface="Consolas" pitchFamily="34" charset="0"/>
                <a:ea typeface="Consolas" pitchFamily="34" charset="-122"/>
                <a:cs typeface="Consolas" pitchFamily="34" charset="-120"/>
              </a:rPr>
              <a:t>  IssueHistory entry = IssueHistory.</a:t>
            </a:r>
            <a:r>
              <a:rPr lang="en-US" sz="950" dirty="0">
                <a:solidFill>
                  <a:srgbClr val="5F80F9"/>
                </a:solidFill>
                <a:latin typeface="Consolas" pitchFamily="34" charset="0"/>
                <a:ea typeface="Consolas" pitchFamily="34" charset="-122"/>
                <a:cs typeface="Consolas" pitchFamily="34" charset="-120"/>
              </a:rPr>
              <a:t>builder()
</a:t>
            </a:r>
            <a:r>
              <a:rPr lang="en-US" sz="950" dirty="0">
                <a:solidFill>
                  <a:srgbClr val="EEF0FF"/>
                </a:solidFill>
                <a:latin typeface="Consolas" pitchFamily="34" charset="0"/>
                <a:ea typeface="Consolas" pitchFamily="34" charset="-122"/>
                <a:cs typeface="Consolas" pitchFamily="34" charset="-120"/>
              </a:rPr>
              <a:t>    .issue(issue).changedBy(changedBy)</a:t>
            </a:r>
            <a:endParaRPr lang="en-US" sz="950" dirty="0"/>
          </a:p>
          <a:p>
            <a:pPr marL="0" indent="0">
              <a:buNone/>
            </a:pPr>
            <a:r>
              <a:rPr lang="en-US" sz="950" dirty="0">
                <a:solidFill>
                  <a:srgbClr val="EEF0FF"/>
                </a:solidFill>
                <a:latin typeface="Consolas" pitchFamily="34" charset="0"/>
                <a:ea typeface="Consolas" pitchFamily="34" charset="-122"/>
                <a:cs typeface="Consolas" pitchFamily="34" charset="-120"/>
              </a:rPr>
              <a:t>    .fieldName(</a:t>
            </a:r>
            <a:endParaRPr lang="en-US" sz="950" dirty="0"/>
          </a:p>
          <a:p>
            <a:pPr marL="0" indent="0">
              <a:buNone/>
            </a:pPr>
            <a:r>
              <a:rPr lang="en-US" sz="950" dirty="0">
                <a:solidFill>
                  <a:srgbClr val="4ADE80"/>
                </a:solidFill>
                <a:latin typeface="Consolas" pitchFamily="34" charset="0"/>
                <a:ea typeface="Consolas" pitchFamily="34" charset="-122"/>
                <a:cs typeface="Consolas" pitchFamily="34" charset="-120"/>
              </a:rPr>
              <a:t>"status"</a:t>
            </a:r>
            <a:r>
              <a:rPr lang="en-US" sz="950" dirty="0">
                <a:solidFill>
                  <a:srgbClr val="EEF0FF"/>
                </a:solidFill>
                <a:latin typeface="Consolas" pitchFamily="34" charset="0"/>
                <a:ea typeface="Consolas" pitchFamily="34" charset="-122"/>
                <a:cs typeface="Consolas" pitchFamily="34" charset="-120"/>
              </a:rPr>
              <a:t>)
    .oldValue(</a:t>
            </a:r>
            <a:r>
              <a:rPr lang="en-US" sz="950" dirty="0">
                <a:solidFill>
                  <a:srgbClr val="19D9EF"/>
                </a:solidFill>
                <a:latin typeface="Consolas" pitchFamily="34" charset="0"/>
                <a:ea typeface="Consolas" pitchFamily="34" charset="-122"/>
                <a:cs typeface="Consolas" pitchFamily="34" charset="-120"/>
              </a:rPr>
              <a:t>issue.getStatus().name()</a:t>
            </a:r>
            <a:r>
              <a:rPr lang="en-US" sz="950" dirty="0">
                <a:solidFill>
                  <a:srgbClr val="EEF0FF"/>
                </a:solidFill>
                <a:latin typeface="Consolas" pitchFamily="34" charset="0"/>
                <a:ea typeface="Consolas" pitchFamily="34" charset="-122"/>
                <a:cs typeface="Consolas" pitchFamily="34" charset="-120"/>
              </a:rPr>
              <a:t>)
    .newValue(</a:t>
            </a:r>
            <a:r>
              <a:rPr lang="en-US" sz="950" dirty="0">
                <a:solidFill>
                  <a:srgbClr val="19D9EF"/>
                </a:solidFill>
                <a:latin typeface="Consolas" pitchFamily="34" charset="0"/>
                <a:ea typeface="Consolas" pitchFamily="34" charset="-122"/>
                <a:cs typeface="Consolas" pitchFamily="34" charset="-120"/>
              </a:rPr>
              <a:t>newStatus.name()</a:t>
            </a:r>
            <a:r>
              <a:rPr lang="en-US" sz="950" dirty="0">
                <a:solidFill>
                  <a:srgbClr val="EEF0FF"/>
                </a:solidFill>
                <a:latin typeface="Consolas" pitchFamily="34" charset="0"/>
                <a:ea typeface="Consolas" pitchFamily="34" charset="-122"/>
                <a:cs typeface="Consolas" pitchFamily="34" charset="-120"/>
              </a:rPr>
              <a:t>).build();
  historyRepository.</a:t>
            </a:r>
            <a:r>
              <a:rPr lang="en-US" sz="950" dirty="0">
                <a:solidFill>
                  <a:srgbClr val="FACC15"/>
                </a:solidFill>
                <a:latin typeface="Consolas" pitchFamily="34" charset="0"/>
                <a:ea typeface="Consolas" pitchFamily="34" charset="-122"/>
                <a:cs typeface="Consolas" pitchFamily="34" charset="-120"/>
              </a:rPr>
              <a:t>save(entry)</a:t>
            </a:r>
            <a:r>
              <a:rPr lang="en-US" sz="950" dirty="0">
                <a:solidFill>
                  <a:srgbClr val="EEF0FF"/>
                </a:solidFill>
                <a:latin typeface="Consolas" pitchFamily="34" charset="0"/>
                <a:ea typeface="Consolas" pitchFamily="34" charset="-122"/>
                <a:cs typeface="Consolas" pitchFamily="34" charset="-120"/>
              </a:rPr>
              <a:t>;
</a:t>
            </a:r>
            <a:r>
              <a:rPr lang="en-US" sz="950" dirty="0">
                <a:solidFill>
                  <a:srgbClr val="6B7280"/>
                </a:solidFill>
                <a:latin typeface="Consolas" pitchFamily="34" charset="0"/>
                <a:ea typeface="Consolas" pitchFamily="34" charset="-122"/>
                <a:cs typeface="Consolas" pitchFamily="34" charset="-120"/>
              </a:rPr>
              <a:t>  // 2. Update status
</a:t>
            </a:r>
            <a:r>
              <a:rPr lang="en-US" sz="950" dirty="0">
                <a:solidFill>
                  <a:srgbClr val="EEF0FF"/>
                </a:solidFill>
                <a:latin typeface="Consolas" pitchFamily="34" charset="0"/>
                <a:ea typeface="Consolas" pitchFamily="34" charset="-122"/>
                <a:cs typeface="Consolas" pitchFamily="34" charset="-120"/>
              </a:rPr>
              <a:t>  issue.</a:t>
            </a:r>
            <a:r>
              <a:rPr lang="en-US" sz="950" dirty="0">
                <a:solidFill>
                  <a:srgbClr val="FACC15"/>
                </a:solidFill>
                <a:latin typeface="Consolas" pitchFamily="34" charset="0"/>
                <a:ea typeface="Consolas" pitchFamily="34" charset="-122"/>
                <a:cs typeface="Consolas" pitchFamily="34" charset="-120"/>
              </a:rPr>
              <a:t>setStatus(newStatus)</a:t>
            </a:r>
            <a:r>
              <a:rPr lang="en-US" sz="950" dirty="0">
                <a:solidFill>
                  <a:srgbClr val="EEF0FF"/>
                </a:solidFill>
                <a:latin typeface="Consolas" pitchFamily="34" charset="0"/>
                <a:ea typeface="Consolas" pitchFamily="34" charset="-122"/>
                <a:cs typeface="Consolas" pitchFamily="34" charset="-120"/>
              </a:rPr>
              <a:t>;
</a:t>
            </a:r>
            <a:r>
              <a:rPr lang="en-US" sz="950" dirty="0">
                <a:solidFill>
                  <a:srgbClr val="6B7280"/>
                </a:solidFill>
                <a:latin typeface="Consolas" pitchFamily="34" charset="0"/>
                <a:ea typeface="Consolas" pitchFamily="34" charset="-122"/>
                <a:cs typeface="Consolas" pitchFamily="34" charset="-120"/>
              </a:rPr>
              <a:t>  // 3. Notify assignee if someone else changed it
</a:t>
            </a:r>
            <a:r>
              <a:rPr lang="en-US" sz="950" dirty="0">
                <a:solidFill>
                  <a:srgbClr val="EEF0FF"/>
                </a:solidFill>
                <a:latin typeface="Consolas" pitchFamily="34" charset="0"/>
                <a:ea typeface="Consolas" pitchFamily="34" charset="-122"/>
                <a:cs typeface="Consolas" pitchFamily="34" charset="-120"/>
              </a:rPr>
              <a:t>  if (issue.getAssignee() != null &amp;&amp;
    !issue.getAssignee().getId().equals(
      changedBy.getId())) {
    notificationRepository.</a:t>
            </a:r>
            <a:r>
              <a:rPr lang="en-US" sz="950" dirty="0">
                <a:solidFill>
                  <a:srgbClr val="FACC15"/>
                </a:solidFill>
                <a:latin typeface="Consolas" pitchFamily="34" charset="0"/>
                <a:ea typeface="Consolas" pitchFamily="34" charset="-122"/>
                <a:cs typeface="Consolas" pitchFamily="34" charset="-120"/>
              </a:rPr>
              <a:t>save(...)</a:t>
            </a:r>
            <a:r>
              <a:rPr lang="en-US" sz="950" dirty="0">
                <a:solidFill>
                  <a:srgbClr val="EEF0FF"/>
                </a:solidFill>
                <a:latin typeface="Consolas" pitchFamily="34" charset="0"/>
                <a:ea typeface="Consolas" pitchFamily="34" charset="-122"/>
                <a:cs typeface="Consolas" pitchFamily="34" charset="-120"/>
              </a:rPr>
              <a:t>;
  }
  return issueRepository.</a:t>
            </a:r>
            <a:r>
              <a:rPr lang="en-US" sz="950" dirty="0">
                <a:solidFill>
                  <a:srgbClr val="FACC15"/>
                </a:solidFill>
                <a:latin typeface="Consolas" pitchFamily="34" charset="0"/>
                <a:ea typeface="Consolas" pitchFamily="34" charset="-122"/>
                <a:cs typeface="Consolas" pitchFamily="34" charset="-120"/>
              </a:rPr>
              <a:t>save(issue)</a:t>
            </a:r>
            <a:r>
              <a:rPr lang="en-US" sz="950" dirty="0">
                <a:solidFill>
                  <a:srgbClr val="EEF0FF"/>
                </a:solidFill>
                <a:latin typeface="Consolas" pitchFamily="34" charset="0"/>
                <a:ea typeface="Consolas" pitchFamily="34" charset="-122"/>
                <a:cs typeface="Consolas" pitchFamily="34" charset="-120"/>
              </a:rPr>
              <a:t>;</a:t>
            </a:r>
            <a:endParaRPr lang="en-US" sz="950" dirty="0"/>
          </a:p>
          <a:p>
            <a:pPr marL="0" indent="0">
              <a:buNone/>
            </a:pPr>
            <a:r>
              <a:rPr lang="en-US" sz="950" dirty="0">
                <a:solidFill>
                  <a:srgbClr val="EEF0FF"/>
                </a:solidFill>
                <a:latin typeface="Consolas" pitchFamily="34" charset="0"/>
                <a:ea typeface="Consolas" pitchFamily="34" charset="-122"/>
                <a:cs typeface="Consolas" pitchFamily="34" charset="-120"/>
              </a:rPr>
              <a:t>}</a:t>
            </a:r>
            <a:endParaRPr lang="en-US" sz="950" dirty="0"/>
          </a:p>
        </p:txBody>
      </p:sp>
      <p:sp>
        <p:nvSpPr>
          <p:cNvPr id="6" name="Shape 4"/>
          <p:cNvSpPr/>
          <p:nvPr/>
        </p:nvSpPr>
        <p:spPr>
          <a:xfrm>
            <a:off x="5577840" y="841248"/>
            <a:ext cx="3291840" cy="1232170"/>
          </a:xfrm>
          <a:prstGeom prst="rect">
            <a:avLst/>
          </a:prstGeom>
          <a:solidFill>
            <a:srgbClr val="0E1020"/>
          </a:solidFill>
          <a:ln w="12700">
            <a:solidFill>
              <a:srgbClr val="454D7A">
                <a:alpha val="50000"/>
              </a:srgbClr>
            </a:solidFill>
            <a:prstDash val="solid"/>
          </a:ln>
        </p:spPr>
        <p:txBody>
          <a:bodyPr/>
          <a:lstStyle/>
          <a:p>
            <a:endParaRPr lang="en-US"/>
          </a:p>
        </p:txBody>
      </p:sp>
      <p:sp>
        <p:nvSpPr>
          <p:cNvPr id="7" name="Text 5"/>
          <p:cNvSpPr/>
          <p:nvPr/>
        </p:nvSpPr>
        <p:spPr>
          <a:xfrm>
            <a:off x="5669280" y="1068713"/>
            <a:ext cx="3108960" cy="256032"/>
          </a:xfrm>
          <a:prstGeom prst="rect">
            <a:avLst/>
          </a:prstGeom>
          <a:noFill/>
          <a:ln/>
        </p:spPr>
        <p:txBody>
          <a:bodyPr wrap="square" lIns="0" tIns="0" rIns="0" bIns="0" rtlCol="0" anchor="ctr"/>
          <a:lstStyle/>
          <a:p>
            <a:pPr marL="0" indent="0">
              <a:buNone/>
            </a:pPr>
            <a:r>
              <a:rPr lang="en-US" sz="1200" b="1" dirty="0">
                <a:solidFill>
                  <a:srgbClr val="19D9EF"/>
                </a:solidFill>
                <a:latin typeface="Calibri" pitchFamily="34" charset="0"/>
                <a:ea typeface="Calibri" pitchFamily="34" charset="-122"/>
                <a:cs typeface="Calibri" pitchFamily="34" charset="-120"/>
              </a:rPr>
              <a:t>📝  Audit Trail</a:t>
            </a:r>
            <a:endParaRPr lang="en-US" sz="1200" dirty="0"/>
          </a:p>
        </p:txBody>
      </p:sp>
      <p:sp>
        <p:nvSpPr>
          <p:cNvPr id="8" name="Text 6"/>
          <p:cNvSpPr/>
          <p:nvPr/>
        </p:nvSpPr>
        <p:spPr>
          <a:xfrm>
            <a:off x="5669280" y="1333889"/>
            <a:ext cx="3108960" cy="512064"/>
          </a:xfrm>
          <a:prstGeom prst="rect">
            <a:avLst/>
          </a:prstGeom>
          <a:noFill/>
          <a:ln/>
        </p:spPr>
        <p:txBody>
          <a:bodyPr wrap="square" lIns="0" tIns="0" rIns="0" bIns="0" rtlCol="0" anchor="ctr"/>
          <a:lstStyle/>
          <a:p>
            <a:pPr marL="0" indent="0">
              <a:buNone/>
            </a:pPr>
            <a:r>
              <a:rPr lang="en-US" sz="1000" dirty="0">
                <a:solidFill>
                  <a:srgbClr val="EEF0FF"/>
                </a:solidFill>
                <a:latin typeface="Calibri" pitchFamily="34" charset="0"/>
                <a:ea typeface="Calibri" pitchFamily="34" charset="-122"/>
                <a:cs typeface="Calibri" pitchFamily="34" charset="-120"/>
              </a:rPr>
              <a:t>Every status change writes to issue_history — who changed it, from what, to what.</a:t>
            </a:r>
            <a:endParaRPr lang="en-US" sz="1000" dirty="0"/>
          </a:p>
        </p:txBody>
      </p:sp>
      <p:sp>
        <p:nvSpPr>
          <p:cNvPr id="9" name="Shape 7"/>
          <p:cNvSpPr/>
          <p:nvPr/>
        </p:nvSpPr>
        <p:spPr>
          <a:xfrm>
            <a:off x="5577840" y="2273418"/>
            <a:ext cx="3291840" cy="1232170"/>
          </a:xfrm>
          <a:prstGeom prst="rect">
            <a:avLst/>
          </a:prstGeom>
          <a:solidFill>
            <a:srgbClr val="0E1020"/>
          </a:solidFill>
          <a:ln w="12700">
            <a:solidFill>
              <a:srgbClr val="454D7A">
                <a:alpha val="50000"/>
              </a:srgbClr>
            </a:solidFill>
            <a:prstDash val="solid"/>
          </a:ln>
        </p:spPr>
        <p:txBody>
          <a:bodyPr/>
          <a:lstStyle/>
          <a:p>
            <a:endParaRPr lang="en-US"/>
          </a:p>
        </p:txBody>
      </p:sp>
      <p:sp>
        <p:nvSpPr>
          <p:cNvPr id="10" name="Text 8"/>
          <p:cNvSpPr/>
          <p:nvPr/>
        </p:nvSpPr>
        <p:spPr>
          <a:xfrm>
            <a:off x="5669280" y="2500883"/>
            <a:ext cx="3108960" cy="256032"/>
          </a:xfrm>
          <a:prstGeom prst="rect">
            <a:avLst/>
          </a:prstGeom>
          <a:noFill/>
          <a:ln/>
        </p:spPr>
        <p:txBody>
          <a:bodyPr wrap="square" lIns="0" tIns="0" rIns="0" bIns="0" rtlCol="0" anchor="ctr"/>
          <a:lstStyle/>
          <a:p>
            <a:pPr marL="0" indent="0">
              <a:buNone/>
            </a:pPr>
            <a:r>
              <a:rPr lang="en-US" sz="1200" b="1" dirty="0">
                <a:solidFill>
                  <a:srgbClr val="19D9EF"/>
                </a:solidFill>
                <a:latin typeface="Calibri" pitchFamily="34" charset="0"/>
                <a:ea typeface="Calibri" pitchFamily="34" charset="-122"/>
                <a:cs typeface="Calibri" pitchFamily="34" charset="-120"/>
              </a:rPr>
              <a:t>🔔  Smart Notifications</a:t>
            </a:r>
            <a:endParaRPr lang="en-US" sz="1200" dirty="0"/>
          </a:p>
        </p:txBody>
      </p:sp>
      <p:sp>
        <p:nvSpPr>
          <p:cNvPr id="11" name="Text 9"/>
          <p:cNvSpPr/>
          <p:nvPr/>
        </p:nvSpPr>
        <p:spPr>
          <a:xfrm>
            <a:off x="5669280" y="2766059"/>
            <a:ext cx="3108960" cy="512064"/>
          </a:xfrm>
          <a:prstGeom prst="rect">
            <a:avLst/>
          </a:prstGeom>
          <a:noFill/>
          <a:ln/>
        </p:spPr>
        <p:txBody>
          <a:bodyPr wrap="square" lIns="0" tIns="0" rIns="0" bIns="0" rtlCol="0" anchor="ctr"/>
          <a:lstStyle/>
          <a:p>
            <a:pPr marL="0" indent="0">
              <a:buNone/>
            </a:pPr>
            <a:r>
              <a:rPr lang="en-US" sz="1000" dirty="0">
                <a:solidFill>
                  <a:srgbClr val="EEF0FF"/>
                </a:solidFill>
                <a:latin typeface="Calibri" pitchFamily="34" charset="0"/>
                <a:ea typeface="Calibri" pitchFamily="34" charset="-122"/>
                <a:cs typeface="Calibri" pitchFamily="34" charset="-120"/>
              </a:rPr>
              <a:t>Assignee notified only when someone ELSE moves the issue — no self-spam.</a:t>
            </a:r>
            <a:endParaRPr lang="en-US" sz="1000" dirty="0"/>
          </a:p>
        </p:txBody>
      </p:sp>
      <p:sp>
        <p:nvSpPr>
          <p:cNvPr id="12" name="Shape 10"/>
          <p:cNvSpPr/>
          <p:nvPr/>
        </p:nvSpPr>
        <p:spPr>
          <a:xfrm>
            <a:off x="5577840" y="3705588"/>
            <a:ext cx="3291840" cy="1232170"/>
          </a:xfrm>
          <a:prstGeom prst="rect">
            <a:avLst/>
          </a:prstGeom>
          <a:solidFill>
            <a:srgbClr val="0E1020"/>
          </a:solidFill>
          <a:ln w="12700">
            <a:solidFill>
              <a:srgbClr val="454D7A">
                <a:alpha val="50000"/>
              </a:srgbClr>
            </a:solidFill>
            <a:prstDash val="solid"/>
          </a:ln>
        </p:spPr>
        <p:txBody>
          <a:bodyPr/>
          <a:lstStyle/>
          <a:p>
            <a:endParaRPr lang="en-US"/>
          </a:p>
        </p:txBody>
      </p:sp>
      <p:sp>
        <p:nvSpPr>
          <p:cNvPr id="13" name="Text 11"/>
          <p:cNvSpPr/>
          <p:nvPr/>
        </p:nvSpPr>
        <p:spPr>
          <a:xfrm>
            <a:off x="5669280" y="3933053"/>
            <a:ext cx="3108960" cy="256032"/>
          </a:xfrm>
          <a:prstGeom prst="rect">
            <a:avLst/>
          </a:prstGeom>
          <a:noFill/>
          <a:ln/>
        </p:spPr>
        <p:txBody>
          <a:bodyPr wrap="square" lIns="0" tIns="0" rIns="0" bIns="0" rtlCol="0" anchor="ctr"/>
          <a:lstStyle/>
          <a:p>
            <a:pPr marL="0" indent="0">
              <a:buNone/>
            </a:pPr>
            <a:r>
              <a:rPr lang="en-US" sz="1200" b="1" dirty="0">
                <a:solidFill>
                  <a:srgbClr val="19D9EF"/>
                </a:solidFill>
                <a:latin typeface="Calibri" pitchFamily="34" charset="0"/>
                <a:ea typeface="Calibri" pitchFamily="34" charset="-122"/>
                <a:cs typeface="Calibri" pitchFamily="34" charset="-120"/>
              </a:rPr>
              <a:t>🔒  Role Guards</a:t>
            </a:r>
            <a:endParaRPr lang="en-US" sz="1200" dirty="0"/>
          </a:p>
        </p:txBody>
      </p:sp>
      <p:sp>
        <p:nvSpPr>
          <p:cNvPr id="14" name="Text 12"/>
          <p:cNvSpPr/>
          <p:nvPr/>
        </p:nvSpPr>
        <p:spPr>
          <a:xfrm>
            <a:off x="5669280" y="4198229"/>
            <a:ext cx="3108960" cy="512064"/>
          </a:xfrm>
          <a:prstGeom prst="rect">
            <a:avLst/>
          </a:prstGeom>
          <a:noFill/>
          <a:ln/>
        </p:spPr>
        <p:txBody>
          <a:bodyPr wrap="square" lIns="0" tIns="0" rIns="0" bIns="0" rtlCol="0" anchor="ctr"/>
          <a:lstStyle/>
          <a:p>
            <a:pPr marL="0" indent="0">
              <a:buNone/>
            </a:pPr>
            <a:r>
              <a:rPr lang="en-US" sz="1000" dirty="0">
                <a:solidFill>
                  <a:srgbClr val="EEF0FF"/>
                </a:solidFill>
                <a:latin typeface="Calibri" pitchFamily="34" charset="0"/>
                <a:ea typeface="Calibri" pitchFamily="34" charset="-122"/>
                <a:cs typeface="Calibri" pitchFamily="34" charset="-120"/>
              </a:rPr>
              <a:t>ADMIN bypasses ownership. Reporters can edit their own issues.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80F"/>
        </a:solidFill>
        <a:effectLst/>
      </p:bgPr>
    </p:bg>
    <p:spTree>
      <p:nvGrpSpPr>
        <p:cNvPr id="1" name=""/>
        <p:cNvGrpSpPr/>
        <p:nvPr/>
      </p:nvGrpSpPr>
      <p:grpSpPr>
        <a:xfrm>
          <a:off x="0" y="0"/>
          <a:ext cx="0" cy="0"/>
          <a:chOff x="0" y="0"/>
          <a:chExt cx="0" cy="0"/>
        </a:xfrm>
      </p:grpSpPr>
      <p:sp>
        <p:nvSpPr>
          <p:cNvPr id="2" name="Text 0"/>
          <p:cNvSpPr/>
          <p:nvPr/>
        </p:nvSpPr>
        <p:spPr>
          <a:xfrm>
            <a:off x="320040" y="182880"/>
            <a:ext cx="8503920" cy="530352"/>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Security &amp; Local Setup</a:t>
            </a:r>
            <a:endParaRPr lang="en-US" sz="3000" dirty="0"/>
          </a:p>
        </p:txBody>
      </p:sp>
      <p:sp>
        <p:nvSpPr>
          <p:cNvPr id="3" name="Shape 1"/>
          <p:cNvSpPr/>
          <p:nvPr/>
        </p:nvSpPr>
        <p:spPr>
          <a:xfrm>
            <a:off x="320040" y="804672"/>
            <a:ext cx="1572768" cy="749808"/>
          </a:xfrm>
          <a:prstGeom prst="roundRect">
            <a:avLst>
              <a:gd name="adj" fmla="val 12195"/>
            </a:avLst>
          </a:prstGeom>
          <a:solidFill>
            <a:srgbClr val="0E1020"/>
          </a:solidFill>
          <a:ln w="12700">
            <a:solidFill>
              <a:srgbClr val="5F80F9">
                <a:alpha val="60000"/>
              </a:srgbClr>
            </a:solidFill>
            <a:prstDash val="solid"/>
          </a:ln>
        </p:spPr>
        <p:txBody>
          <a:bodyPr/>
          <a:lstStyle/>
          <a:p>
            <a:endParaRPr lang="en-US"/>
          </a:p>
        </p:txBody>
      </p:sp>
      <p:sp>
        <p:nvSpPr>
          <p:cNvPr id="4" name="Shape 2"/>
          <p:cNvSpPr/>
          <p:nvPr/>
        </p:nvSpPr>
        <p:spPr>
          <a:xfrm>
            <a:off x="914400" y="813816"/>
            <a:ext cx="365760" cy="274320"/>
          </a:xfrm>
          <a:prstGeom prst="ellipse">
            <a:avLst/>
          </a:prstGeom>
          <a:solidFill>
            <a:srgbClr val="5F80F9"/>
          </a:solidFill>
          <a:ln w="12700">
            <a:solidFill>
              <a:srgbClr val="5F80F9"/>
            </a:solidFill>
            <a:prstDash val="solid"/>
          </a:ln>
        </p:spPr>
        <p:txBody>
          <a:bodyPr/>
          <a:lstStyle/>
          <a:p>
            <a:endParaRPr lang="en-US"/>
          </a:p>
        </p:txBody>
      </p:sp>
      <p:sp>
        <p:nvSpPr>
          <p:cNvPr id="5" name="Text 3"/>
          <p:cNvSpPr/>
          <p:nvPr/>
        </p:nvSpPr>
        <p:spPr>
          <a:xfrm>
            <a:off x="896112" y="749808"/>
            <a:ext cx="420624" cy="420624"/>
          </a:xfrm>
          <a:prstGeom prst="rect">
            <a:avLst/>
          </a:prstGeom>
          <a:noFill/>
          <a:ln/>
        </p:spPr>
        <p:txBody>
          <a:bodyPr wrap="square" lIns="0" tIns="0" rIns="0" bIns="0" rtlCol="0" anchor="ctr"/>
          <a:lstStyle/>
          <a:p>
            <a:pPr marL="0" indent="0" algn="ctr">
              <a:buNone/>
            </a:pPr>
            <a:r>
              <a:rPr lang="en-US" sz="1100" b="1" dirty="0">
                <a:solidFill>
                  <a:srgbClr val="000000"/>
                </a:solidFill>
                <a:latin typeface="Calibri" pitchFamily="34" charset="0"/>
                <a:ea typeface="Calibri" pitchFamily="34" charset="-122"/>
                <a:cs typeface="Calibri" pitchFamily="34" charset="-120"/>
              </a:rPr>
              <a:t>1</a:t>
            </a:r>
            <a:endParaRPr lang="en-US" sz="1100" dirty="0"/>
          </a:p>
        </p:txBody>
      </p:sp>
      <p:sp>
        <p:nvSpPr>
          <p:cNvPr id="6" name="Text 4"/>
          <p:cNvSpPr/>
          <p:nvPr/>
        </p:nvSpPr>
        <p:spPr>
          <a:xfrm>
            <a:off x="320040" y="987552"/>
            <a:ext cx="1572768" cy="512064"/>
          </a:xfrm>
          <a:prstGeom prst="rect">
            <a:avLst/>
          </a:prstGeom>
          <a:noFill/>
          <a:ln/>
        </p:spPr>
        <p:txBody>
          <a:bodyPr wrap="square" lIns="25400" tIns="25400" rIns="25400" bIns="2540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POST /auth/login</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email + password</a:t>
            </a:r>
            <a:endParaRPr lang="en-US" sz="950" dirty="0"/>
          </a:p>
        </p:txBody>
      </p:sp>
      <p:sp>
        <p:nvSpPr>
          <p:cNvPr id="7" name="Text 5"/>
          <p:cNvSpPr/>
          <p:nvPr/>
        </p:nvSpPr>
        <p:spPr>
          <a:xfrm>
            <a:off x="1874520" y="987552"/>
            <a:ext cx="201168" cy="384048"/>
          </a:xfrm>
          <a:prstGeom prst="rect">
            <a:avLst/>
          </a:prstGeom>
          <a:noFill/>
          <a:ln/>
        </p:spPr>
        <p:txBody>
          <a:bodyPr wrap="square" lIns="0" tIns="0" rIns="0" bIns="0" rtlCol="0" anchor="ctr"/>
          <a:lstStyle/>
          <a:p>
            <a:pPr marL="0" indent="0" algn="ctr">
              <a:buNone/>
            </a:pPr>
            <a:r>
              <a:rPr lang="en-US" sz="1400" dirty="0">
                <a:solidFill>
                  <a:srgbClr val="454D7A"/>
                </a:solidFill>
                <a:latin typeface="Calibri" pitchFamily="34" charset="0"/>
                <a:ea typeface="Calibri" pitchFamily="34" charset="-122"/>
                <a:cs typeface="Calibri" pitchFamily="34" charset="-120"/>
              </a:rPr>
              <a:t>→</a:t>
            </a:r>
            <a:endParaRPr lang="en-US" sz="1400" dirty="0"/>
          </a:p>
        </p:txBody>
      </p:sp>
      <p:sp>
        <p:nvSpPr>
          <p:cNvPr id="8" name="Shape 6"/>
          <p:cNvSpPr/>
          <p:nvPr/>
        </p:nvSpPr>
        <p:spPr>
          <a:xfrm>
            <a:off x="2039112" y="804672"/>
            <a:ext cx="1572768" cy="749808"/>
          </a:xfrm>
          <a:prstGeom prst="roundRect">
            <a:avLst>
              <a:gd name="adj" fmla="val 12195"/>
            </a:avLst>
          </a:prstGeom>
          <a:solidFill>
            <a:srgbClr val="0E1020"/>
          </a:solidFill>
          <a:ln w="12700">
            <a:solidFill>
              <a:srgbClr val="5F80F9">
                <a:alpha val="60000"/>
              </a:srgbClr>
            </a:solidFill>
            <a:prstDash val="solid"/>
          </a:ln>
        </p:spPr>
        <p:txBody>
          <a:bodyPr/>
          <a:lstStyle/>
          <a:p>
            <a:endParaRPr lang="en-US"/>
          </a:p>
        </p:txBody>
      </p:sp>
      <p:sp>
        <p:nvSpPr>
          <p:cNvPr id="9" name="Shape 7"/>
          <p:cNvSpPr/>
          <p:nvPr/>
        </p:nvSpPr>
        <p:spPr>
          <a:xfrm>
            <a:off x="2633472" y="813816"/>
            <a:ext cx="365760" cy="274320"/>
          </a:xfrm>
          <a:prstGeom prst="ellipse">
            <a:avLst/>
          </a:prstGeom>
          <a:solidFill>
            <a:srgbClr val="5F80F9"/>
          </a:solidFill>
          <a:ln w="12700">
            <a:solidFill>
              <a:srgbClr val="5F80F9"/>
            </a:solidFill>
            <a:prstDash val="solid"/>
          </a:ln>
        </p:spPr>
        <p:txBody>
          <a:bodyPr/>
          <a:lstStyle/>
          <a:p>
            <a:endParaRPr lang="en-US"/>
          </a:p>
        </p:txBody>
      </p:sp>
      <p:sp>
        <p:nvSpPr>
          <p:cNvPr id="10" name="Text 8"/>
          <p:cNvSpPr/>
          <p:nvPr/>
        </p:nvSpPr>
        <p:spPr>
          <a:xfrm>
            <a:off x="2615184" y="749808"/>
            <a:ext cx="420624" cy="420624"/>
          </a:xfrm>
          <a:prstGeom prst="rect">
            <a:avLst/>
          </a:prstGeom>
          <a:noFill/>
          <a:ln/>
        </p:spPr>
        <p:txBody>
          <a:bodyPr wrap="square" lIns="0" tIns="0" rIns="0" bIns="0" rtlCol="0" anchor="ctr"/>
          <a:lstStyle/>
          <a:p>
            <a:pPr marL="0" indent="0" algn="ctr">
              <a:buNone/>
            </a:pPr>
            <a:r>
              <a:rPr lang="en-US" sz="1100" b="1" dirty="0">
                <a:solidFill>
                  <a:srgbClr val="000000"/>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2039112" y="987552"/>
            <a:ext cx="1572768" cy="512064"/>
          </a:xfrm>
          <a:prstGeom prst="rect">
            <a:avLst/>
          </a:prstGeom>
          <a:noFill/>
          <a:ln/>
        </p:spPr>
        <p:txBody>
          <a:bodyPr wrap="square" lIns="25400" tIns="25400" rIns="25400" bIns="2540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BCrypt validates</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password hash</a:t>
            </a:r>
            <a:endParaRPr lang="en-US" sz="950" dirty="0"/>
          </a:p>
        </p:txBody>
      </p:sp>
      <p:sp>
        <p:nvSpPr>
          <p:cNvPr id="12" name="Text 10"/>
          <p:cNvSpPr/>
          <p:nvPr/>
        </p:nvSpPr>
        <p:spPr>
          <a:xfrm>
            <a:off x="3593592" y="987552"/>
            <a:ext cx="201168" cy="384048"/>
          </a:xfrm>
          <a:prstGeom prst="rect">
            <a:avLst/>
          </a:prstGeom>
          <a:noFill/>
          <a:ln/>
        </p:spPr>
        <p:txBody>
          <a:bodyPr wrap="square" lIns="0" tIns="0" rIns="0" bIns="0" rtlCol="0" anchor="ctr"/>
          <a:lstStyle/>
          <a:p>
            <a:pPr marL="0" indent="0" algn="ctr">
              <a:buNone/>
            </a:pPr>
            <a:r>
              <a:rPr lang="en-US" sz="1400" dirty="0">
                <a:solidFill>
                  <a:srgbClr val="454D7A"/>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758184" y="804672"/>
            <a:ext cx="1572768" cy="749808"/>
          </a:xfrm>
          <a:prstGeom prst="roundRect">
            <a:avLst>
              <a:gd name="adj" fmla="val 12195"/>
            </a:avLst>
          </a:prstGeom>
          <a:solidFill>
            <a:srgbClr val="0E1020"/>
          </a:solidFill>
          <a:ln w="12700">
            <a:solidFill>
              <a:srgbClr val="19D9EF">
                <a:alpha val="60000"/>
              </a:srgbClr>
            </a:solidFill>
            <a:prstDash val="solid"/>
          </a:ln>
        </p:spPr>
        <p:txBody>
          <a:bodyPr/>
          <a:lstStyle/>
          <a:p>
            <a:endParaRPr lang="en-US"/>
          </a:p>
        </p:txBody>
      </p:sp>
      <p:sp>
        <p:nvSpPr>
          <p:cNvPr id="14" name="Shape 12"/>
          <p:cNvSpPr/>
          <p:nvPr/>
        </p:nvSpPr>
        <p:spPr>
          <a:xfrm>
            <a:off x="4352544" y="813816"/>
            <a:ext cx="365760" cy="274320"/>
          </a:xfrm>
          <a:prstGeom prst="ellipse">
            <a:avLst/>
          </a:prstGeom>
          <a:solidFill>
            <a:srgbClr val="19D9EF"/>
          </a:solidFill>
          <a:ln w="12700">
            <a:solidFill>
              <a:srgbClr val="19D9EF"/>
            </a:solidFill>
            <a:prstDash val="solid"/>
          </a:ln>
        </p:spPr>
        <p:txBody>
          <a:bodyPr/>
          <a:lstStyle/>
          <a:p>
            <a:endParaRPr lang="en-US"/>
          </a:p>
        </p:txBody>
      </p:sp>
      <p:sp>
        <p:nvSpPr>
          <p:cNvPr id="15" name="Text 13"/>
          <p:cNvSpPr/>
          <p:nvPr/>
        </p:nvSpPr>
        <p:spPr>
          <a:xfrm>
            <a:off x="4334256" y="749808"/>
            <a:ext cx="420624" cy="420624"/>
          </a:xfrm>
          <a:prstGeom prst="rect">
            <a:avLst/>
          </a:prstGeom>
          <a:noFill/>
          <a:ln/>
        </p:spPr>
        <p:txBody>
          <a:bodyPr wrap="square" lIns="0" tIns="0" rIns="0" bIns="0" rtlCol="0" anchor="ctr"/>
          <a:lstStyle/>
          <a:p>
            <a:pPr marL="0" indent="0" algn="ctr">
              <a:buNone/>
            </a:pPr>
            <a:r>
              <a:rPr lang="en-US" sz="1100" b="1" dirty="0">
                <a:solidFill>
                  <a:srgbClr val="000000"/>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3758184" y="987552"/>
            <a:ext cx="1572768" cy="512064"/>
          </a:xfrm>
          <a:prstGeom prst="rect">
            <a:avLst/>
          </a:prstGeom>
          <a:noFill/>
          <a:ln/>
        </p:spPr>
        <p:txBody>
          <a:bodyPr wrap="square" lIns="25400" tIns="25400" rIns="25400" bIns="2540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JWT signed</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24h TTL</a:t>
            </a:r>
            <a:endParaRPr lang="en-US" sz="950" dirty="0"/>
          </a:p>
        </p:txBody>
      </p:sp>
      <p:sp>
        <p:nvSpPr>
          <p:cNvPr id="17" name="Text 15"/>
          <p:cNvSpPr/>
          <p:nvPr/>
        </p:nvSpPr>
        <p:spPr>
          <a:xfrm>
            <a:off x="5312664" y="987552"/>
            <a:ext cx="201168" cy="384048"/>
          </a:xfrm>
          <a:prstGeom prst="rect">
            <a:avLst/>
          </a:prstGeom>
          <a:noFill/>
          <a:ln/>
        </p:spPr>
        <p:txBody>
          <a:bodyPr wrap="square" lIns="0" tIns="0" rIns="0" bIns="0" rtlCol="0" anchor="ctr"/>
          <a:lstStyle/>
          <a:p>
            <a:pPr marL="0" indent="0" algn="ctr">
              <a:buNone/>
            </a:pPr>
            <a:r>
              <a:rPr lang="en-US" sz="1400" dirty="0">
                <a:solidFill>
                  <a:srgbClr val="454D7A"/>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5477256" y="804672"/>
            <a:ext cx="1572768" cy="749808"/>
          </a:xfrm>
          <a:prstGeom prst="roundRect">
            <a:avLst>
              <a:gd name="adj" fmla="val 12195"/>
            </a:avLst>
          </a:prstGeom>
          <a:solidFill>
            <a:srgbClr val="0E1020"/>
          </a:solidFill>
          <a:ln w="12700">
            <a:solidFill>
              <a:srgbClr val="19D9EF">
                <a:alpha val="60000"/>
              </a:srgbClr>
            </a:solidFill>
            <a:prstDash val="solid"/>
          </a:ln>
        </p:spPr>
        <p:txBody>
          <a:bodyPr/>
          <a:lstStyle/>
          <a:p>
            <a:endParaRPr lang="en-US"/>
          </a:p>
        </p:txBody>
      </p:sp>
      <p:sp>
        <p:nvSpPr>
          <p:cNvPr id="19" name="Shape 17"/>
          <p:cNvSpPr/>
          <p:nvPr/>
        </p:nvSpPr>
        <p:spPr>
          <a:xfrm>
            <a:off x="6071616" y="813816"/>
            <a:ext cx="365760" cy="274320"/>
          </a:xfrm>
          <a:prstGeom prst="ellipse">
            <a:avLst/>
          </a:prstGeom>
          <a:solidFill>
            <a:srgbClr val="19D9EF"/>
          </a:solidFill>
          <a:ln w="12700">
            <a:solidFill>
              <a:srgbClr val="19D9EF"/>
            </a:solidFill>
            <a:prstDash val="solid"/>
          </a:ln>
        </p:spPr>
        <p:txBody>
          <a:bodyPr/>
          <a:lstStyle/>
          <a:p>
            <a:endParaRPr lang="en-US"/>
          </a:p>
        </p:txBody>
      </p:sp>
      <p:sp>
        <p:nvSpPr>
          <p:cNvPr id="20" name="Text 18"/>
          <p:cNvSpPr/>
          <p:nvPr/>
        </p:nvSpPr>
        <p:spPr>
          <a:xfrm>
            <a:off x="6053328" y="749808"/>
            <a:ext cx="420624" cy="420624"/>
          </a:xfrm>
          <a:prstGeom prst="rect">
            <a:avLst/>
          </a:prstGeom>
          <a:noFill/>
          <a:ln/>
        </p:spPr>
        <p:txBody>
          <a:bodyPr wrap="square" lIns="0" tIns="0" rIns="0" bIns="0" rtlCol="0" anchor="ctr"/>
          <a:lstStyle/>
          <a:p>
            <a:pPr marL="0" indent="0" algn="ctr">
              <a:buNone/>
            </a:pPr>
            <a:r>
              <a:rPr lang="en-US" sz="1100" b="1" dirty="0">
                <a:solidFill>
                  <a:srgbClr val="000000"/>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5477256" y="987552"/>
            <a:ext cx="1572768" cy="512064"/>
          </a:xfrm>
          <a:prstGeom prst="rect">
            <a:avLst/>
          </a:prstGeom>
          <a:noFill/>
          <a:ln/>
        </p:spPr>
        <p:txBody>
          <a:bodyPr wrap="square" lIns="25400" tIns="25400" rIns="25400" bIns="2540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Bearer token</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every request</a:t>
            </a:r>
            <a:endParaRPr lang="en-US" sz="950" dirty="0"/>
          </a:p>
        </p:txBody>
      </p:sp>
      <p:sp>
        <p:nvSpPr>
          <p:cNvPr id="22" name="Text 20"/>
          <p:cNvSpPr/>
          <p:nvPr/>
        </p:nvSpPr>
        <p:spPr>
          <a:xfrm>
            <a:off x="7031736" y="987552"/>
            <a:ext cx="201168" cy="384048"/>
          </a:xfrm>
          <a:prstGeom prst="rect">
            <a:avLst/>
          </a:prstGeom>
          <a:noFill/>
          <a:ln/>
        </p:spPr>
        <p:txBody>
          <a:bodyPr wrap="square" lIns="0" tIns="0" rIns="0" bIns="0" rtlCol="0" anchor="ctr"/>
          <a:lstStyle/>
          <a:p>
            <a:pPr marL="0" indent="0" algn="ctr">
              <a:buNone/>
            </a:pPr>
            <a:r>
              <a:rPr lang="en-US" sz="1400" dirty="0">
                <a:solidFill>
                  <a:srgbClr val="454D7A"/>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7214616" y="813816"/>
            <a:ext cx="1572768" cy="749808"/>
          </a:xfrm>
          <a:prstGeom prst="roundRect">
            <a:avLst>
              <a:gd name="adj" fmla="val 12195"/>
            </a:avLst>
          </a:prstGeom>
          <a:solidFill>
            <a:srgbClr val="0E1020"/>
          </a:solidFill>
          <a:ln w="12700">
            <a:solidFill>
              <a:srgbClr val="4ADE80">
                <a:alpha val="60000"/>
              </a:srgbClr>
            </a:solidFill>
            <a:prstDash val="solid"/>
          </a:ln>
        </p:spPr>
        <p:txBody>
          <a:bodyPr/>
          <a:lstStyle/>
          <a:p>
            <a:endParaRPr lang="en-US"/>
          </a:p>
        </p:txBody>
      </p:sp>
      <p:sp>
        <p:nvSpPr>
          <p:cNvPr id="24" name="Shape 22"/>
          <p:cNvSpPr/>
          <p:nvPr/>
        </p:nvSpPr>
        <p:spPr>
          <a:xfrm>
            <a:off x="7790688" y="813816"/>
            <a:ext cx="365760" cy="274320"/>
          </a:xfrm>
          <a:prstGeom prst="ellipse">
            <a:avLst/>
          </a:prstGeom>
          <a:solidFill>
            <a:srgbClr val="4ADE80"/>
          </a:solidFill>
          <a:ln w="12700">
            <a:solidFill>
              <a:srgbClr val="4ADE80"/>
            </a:solidFill>
            <a:prstDash val="solid"/>
          </a:ln>
        </p:spPr>
        <p:txBody>
          <a:bodyPr/>
          <a:lstStyle/>
          <a:p>
            <a:endParaRPr lang="en-US" dirty="0"/>
          </a:p>
        </p:txBody>
      </p:sp>
      <p:sp>
        <p:nvSpPr>
          <p:cNvPr id="25" name="Text 23"/>
          <p:cNvSpPr/>
          <p:nvPr/>
        </p:nvSpPr>
        <p:spPr>
          <a:xfrm>
            <a:off x="7772400" y="749808"/>
            <a:ext cx="420624" cy="420624"/>
          </a:xfrm>
          <a:prstGeom prst="rect">
            <a:avLst/>
          </a:prstGeom>
          <a:noFill/>
          <a:ln/>
        </p:spPr>
        <p:txBody>
          <a:bodyPr wrap="square" lIns="0" tIns="0" rIns="0" bIns="0" rtlCol="0" anchor="ctr"/>
          <a:lstStyle/>
          <a:p>
            <a:pPr marL="0" indent="0" algn="ctr">
              <a:buNone/>
            </a:pPr>
            <a:r>
              <a:rPr lang="en-US" sz="1100" b="1" dirty="0">
                <a:solidFill>
                  <a:srgbClr val="000000"/>
                </a:solidFill>
                <a:latin typeface="Calibri" pitchFamily="34" charset="0"/>
                <a:ea typeface="Calibri" pitchFamily="34" charset="-122"/>
                <a:cs typeface="Calibri" pitchFamily="34" charset="-120"/>
              </a:rPr>
              <a:t>5</a:t>
            </a:r>
            <a:endParaRPr lang="en-US" sz="1100" dirty="0"/>
          </a:p>
        </p:txBody>
      </p:sp>
      <p:sp>
        <p:nvSpPr>
          <p:cNvPr id="26" name="Text 24"/>
          <p:cNvSpPr/>
          <p:nvPr/>
        </p:nvSpPr>
        <p:spPr>
          <a:xfrm>
            <a:off x="7196328" y="1024128"/>
            <a:ext cx="1572768" cy="512064"/>
          </a:xfrm>
          <a:prstGeom prst="rect">
            <a:avLst/>
          </a:prstGeom>
          <a:noFill/>
          <a:ln/>
        </p:spPr>
        <p:txBody>
          <a:bodyPr wrap="square" lIns="25400" tIns="25400" rIns="25400" bIns="2540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JwtAuthFilter</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validates JWT</a:t>
            </a:r>
            <a:endParaRPr lang="en-US" sz="950" dirty="0"/>
          </a:p>
        </p:txBody>
      </p:sp>
      <p:sp>
        <p:nvSpPr>
          <p:cNvPr id="27" name="Text 25"/>
          <p:cNvSpPr/>
          <p:nvPr/>
        </p:nvSpPr>
        <p:spPr>
          <a:xfrm>
            <a:off x="320040" y="1719072"/>
            <a:ext cx="4114800" cy="347472"/>
          </a:xfrm>
          <a:prstGeom prst="rect">
            <a:avLst/>
          </a:prstGeom>
          <a:noFill/>
          <a:ln/>
        </p:spPr>
        <p:txBody>
          <a:bodyPr wrap="square" lIns="0" tIns="0" rIns="0" bIns="0" rtlCol="0" anchor="ctr"/>
          <a:lstStyle/>
          <a:p>
            <a:pPr marL="0" indent="0">
              <a:buNone/>
            </a:pPr>
            <a:r>
              <a:rPr lang="en-US" sz="1400" b="1" dirty="0">
                <a:solidFill>
                  <a:srgbClr val="5F80F9"/>
                </a:solidFill>
                <a:latin typeface="Calibri" pitchFamily="34" charset="0"/>
                <a:ea typeface="Calibri" pitchFamily="34" charset="-122"/>
                <a:cs typeface="Calibri" pitchFamily="34" charset="-120"/>
              </a:rPr>
              <a:t>🔒  Security</a:t>
            </a:r>
            <a:endParaRPr lang="en-US" sz="1400" dirty="0"/>
          </a:p>
        </p:txBody>
      </p:sp>
      <p:sp>
        <p:nvSpPr>
          <p:cNvPr id="28" name="Shape 26"/>
          <p:cNvSpPr/>
          <p:nvPr/>
        </p:nvSpPr>
        <p:spPr>
          <a:xfrm>
            <a:off x="320040" y="2139696"/>
            <a:ext cx="1975104" cy="786384"/>
          </a:xfrm>
          <a:prstGeom prst="rect">
            <a:avLst/>
          </a:prstGeom>
          <a:solidFill>
            <a:srgbClr val="0E1020"/>
          </a:solidFill>
          <a:ln w="12700">
            <a:solidFill>
              <a:srgbClr val="5F80F9">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29" name="Shape 27"/>
          <p:cNvSpPr/>
          <p:nvPr/>
        </p:nvSpPr>
        <p:spPr>
          <a:xfrm>
            <a:off x="320040" y="2139696"/>
            <a:ext cx="45720" cy="786384"/>
          </a:xfrm>
          <a:prstGeom prst="rect">
            <a:avLst/>
          </a:prstGeom>
          <a:solidFill>
            <a:srgbClr val="5F80F9"/>
          </a:solidFill>
          <a:ln w="12700">
            <a:solidFill>
              <a:srgbClr val="5F80F9"/>
            </a:solidFill>
            <a:prstDash val="solid"/>
          </a:ln>
        </p:spPr>
        <p:txBody>
          <a:bodyPr/>
          <a:lstStyle/>
          <a:p>
            <a:endParaRPr lang="en-US"/>
          </a:p>
        </p:txBody>
      </p:sp>
      <p:sp>
        <p:nvSpPr>
          <p:cNvPr id="30" name="Text 28"/>
          <p:cNvSpPr/>
          <p:nvPr/>
        </p:nvSpPr>
        <p:spPr>
          <a:xfrm>
            <a:off x="411480" y="2231136"/>
            <a:ext cx="181051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BCrypt</a:t>
            </a:r>
            <a:endParaRPr lang="en-US" sz="1100" dirty="0"/>
          </a:p>
        </p:txBody>
      </p:sp>
      <p:sp>
        <p:nvSpPr>
          <p:cNvPr id="31" name="Text 29"/>
          <p:cNvSpPr/>
          <p:nvPr/>
        </p:nvSpPr>
        <p:spPr>
          <a:xfrm>
            <a:off x="411480" y="25420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cost factor 10</a:t>
            </a:r>
            <a:endParaRPr lang="en-US" sz="1000" dirty="0"/>
          </a:p>
        </p:txBody>
      </p:sp>
      <p:sp>
        <p:nvSpPr>
          <p:cNvPr id="32" name="Shape 30"/>
          <p:cNvSpPr/>
          <p:nvPr/>
        </p:nvSpPr>
        <p:spPr>
          <a:xfrm>
            <a:off x="2423160" y="2139696"/>
            <a:ext cx="1975104" cy="786384"/>
          </a:xfrm>
          <a:prstGeom prst="rect">
            <a:avLst/>
          </a:prstGeom>
          <a:solidFill>
            <a:srgbClr val="0E1020"/>
          </a:solidFill>
          <a:ln w="12700">
            <a:solidFill>
              <a:srgbClr val="19D9EF">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33" name="Shape 31"/>
          <p:cNvSpPr/>
          <p:nvPr/>
        </p:nvSpPr>
        <p:spPr>
          <a:xfrm>
            <a:off x="2423160" y="2139696"/>
            <a:ext cx="45720" cy="786384"/>
          </a:xfrm>
          <a:prstGeom prst="rect">
            <a:avLst/>
          </a:prstGeom>
          <a:solidFill>
            <a:srgbClr val="19D9EF"/>
          </a:solidFill>
          <a:ln w="12700">
            <a:solidFill>
              <a:srgbClr val="19D9EF"/>
            </a:solidFill>
            <a:prstDash val="solid"/>
          </a:ln>
        </p:spPr>
        <p:txBody>
          <a:bodyPr/>
          <a:lstStyle/>
          <a:p>
            <a:endParaRPr lang="en-US"/>
          </a:p>
        </p:txBody>
      </p:sp>
      <p:sp>
        <p:nvSpPr>
          <p:cNvPr id="34" name="Text 32"/>
          <p:cNvSpPr/>
          <p:nvPr/>
        </p:nvSpPr>
        <p:spPr>
          <a:xfrm>
            <a:off x="2514600" y="2231136"/>
            <a:ext cx="181051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Stateless JWT</a:t>
            </a:r>
            <a:endParaRPr lang="en-US" sz="1100" dirty="0"/>
          </a:p>
        </p:txBody>
      </p:sp>
      <p:sp>
        <p:nvSpPr>
          <p:cNvPr id="35" name="Text 33"/>
          <p:cNvSpPr/>
          <p:nvPr/>
        </p:nvSpPr>
        <p:spPr>
          <a:xfrm>
            <a:off x="2514600" y="25420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no sessions</a:t>
            </a:r>
            <a:endParaRPr lang="en-US" sz="1000" dirty="0"/>
          </a:p>
        </p:txBody>
      </p:sp>
      <p:sp>
        <p:nvSpPr>
          <p:cNvPr id="36" name="Shape 34"/>
          <p:cNvSpPr/>
          <p:nvPr/>
        </p:nvSpPr>
        <p:spPr>
          <a:xfrm>
            <a:off x="320040" y="3054096"/>
            <a:ext cx="1975104" cy="786384"/>
          </a:xfrm>
          <a:prstGeom prst="rect">
            <a:avLst/>
          </a:prstGeom>
          <a:solidFill>
            <a:srgbClr val="0E1020"/>
          </a:solidFill>
          <a:ln w="12700">
            <a:solidFill>
              <a:srgbClr val="4ADE80">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37" name="Shape 35"/>
          <p:cNvSpPr/>
          <p:nvPr/>
        </p:nvSpPr>
        <p:spPr>
          <a:xfrm>
            <a:off x="320040" y="3054096"/>
            <a:ext cx="45720" cy="786384"/>
          </a:xfrm>
          <a:prstGeom prst="rect">
            <a:avLst/>
          </a:prstGeom>
          <a:solidFill>
            <a:srgbClr val="4ADE80"/>
          </a:solidFill>
          <a:ln w="12700">
            <a:solidFill>
              <a:srgbClr val="4ADE80"/>
            </a:solidFill>
            <a:prstDash val="solid"/>
          </a:ln>
        </p:spPr>
        <p:txBody>
          <a:bodyPr/>
          <a:lstStyle/>
          <a:p>
            <a:endParaRPr lang="en-US"/>
          </a:p>
        </p:txBody>
      </p:sp>
      <p:sp>
        <p:nvSpPr>
          <p:cNvPr id="38" name="Text 36"/>
          <p:cNvSpPr/>
          <p:nvPr/>
        </p:nvSpPr>
        <p:spPr>
          <a:xfrm>
            <a:off x="411480" y="3145536"/>
            <a:ext cx="181051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CORS locked</a:t>
            </a:r>
            <a:endParaRPr lang="en-US" sz="1100" dirty="0"/>
          </a:p>
        </p:txBody>
      </p:sp>
      <p:sp>
        <p:nvSpPr>
          <p:cNvPr id="39" name="Text 37"/>
          <p:cNvSpPr/>
          <p:nvPr/>
        </p:nvSpPr>
        <p:spPr>
          <a:xfrm>
            <a:off x="411480" y="34564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localhost:5173</a:t>
            </a:r>
            <a:endParaRPr lang="en-US" sz="1000" dirty="0"/>
          </a:p>
        </p:txBody>
      </p:sp>
      <p:sp>
        <p:nvSpPr>
          <p:cNvPr id="40" name="Shape 38"/>
          <p:cNvSpPr/>
          <p:nvPr/>
        </p:nvSpPr>
        <p:spPr>
          <a:xfrm>
            <a:off x="2423160" y="3054096"/>
            <a:ext cx="1975104" cy="786384"/>
          </a:xfrm>
          <a:prstGeom prst="rect">
            <a:avLst/>
          </a:prstGeom>
          <a:solidFill>
            <a:srgbClr val="0E1020"/>
          </a:solidFill>
          <a:ln w="12700">
            <a:solidFill>
              <a:srgbClr val="FACC15">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41" name="Shape 39"/>
          <p:cNvSpPr/>
          <p:nvPr/>
        </p:nvSpPr>
        <p:spPr>
          <a:xfrm>
            <a:off x="2423160" y="3054096"/>
            <a:ext cx="45720" cy="786384"/>
          </a:xfrm>
          <a:prstGeom prst="rect">
            <a:avLst/>
          </a:prstGeom>
          <a:solidFill>
            <a:srgbClr val="FACC15"/>
          </a:solidFill>
          <a:ln w="12700">
            <a:solidFill>
              <a:srgbClr val="FACC15"/>
            </a:solidFill>
            <a:prstDash val="solid"/>
          </a:ln>
        </p:spPr>
        <p:txBody>
          <a:bodyPr/>
          <a:lstStyle/>
          <a:p>
            <a:endParaRPr lang="en-US"/>
          </a:p>
        </p:txBody>
      </p:sp>
      <p:sp>
        <p:nvSpPr>
          <p:cNvPr id="42" name="Text 40"/>
          <p:cNvSpPr/>
          <p:nvPr/>
        </p:nvSpPr>
        <p:spPr>
          <a:xfrm>
            <a:off x="2514600" y="3145536"/>
            <a:ext cx="181051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Rate limiting</a:t>
            </a:r>
            <a:endParaRPr lang="en-US" sz="1100" dirty="0"/>
          </a:p>
        </p:txBody>
      </p:sp>
      <p:sp>
        <p:nvSpPr>
          <p:cNvPr id="43" name="Text 41"/>
          <p:cNvSpPr/>
          <p:nvPr/>
        </p:nvSpPr>
        <p:spPr>
          <a:xfrm>
            <a:off x="2514600" y="34564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10 req/min/IP</a:t>
            </a:r>
            <a:endParaRPr lang="en-US" sz="1000" dirty="0"/>
          </a:p>
        </p:txBody>
      </p:sp>
      <p:sp>
        <p:nvSpPr>
          <p:cNvPr id="44" name="Shape 42"/>
          <p:cNvSpPr/>
          <p:nvPr/>
        </p:nvSpPr>
        <p:spPr>
          <a:xfrm>
            <a:off x="320040" y="3968496"/>
            <a:ext cx="1975104" cy="786384"/>
          </a:xfrm>
          <a:prstGeom prst="rect">
            <a:avLst/>
          </a:prstGeom>
          <a:solidFill>
            <a:srgbClr val="0E1020"/>
          </a:solidFill>
          <a:ln w="12700">
            <a:solidFill>
              <a:srgbClr val="A78BFA">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45" name="Shape 43"/>
          <p:cNvSpPr/>
          <p:nvPr/>
        </p:nvSpPr>
        <p:spPr>
          <a:xfrm>
            <a:off x="320040" y="3968496"/>
            <a:ext cx="45720" cy="786384"/>
          </a:xfrm>
          <a:prstGeom prst="rect">
            <a:avLst/>
          </a:prstGeom>
          <a:solidFill>
            <a:srgbClr val="A78BFA"/>
          </a:solidFill>
          <a:ln w="12700">
            <a:solidFill>
              <a:srgbClr val="A78BFA"/>
            </a:solidFill>
            <a:prstDash val="solid"/>
          </a:ln>
        </p:spPr>
        <p:txBody>
          <a:bodyPr/>
          <a:lstStyle/>
          <a:p>
            <a:endParaRPr lang="en-US"/>
          </a:p>
        </p:txBody>
      </p:sp>
      <p:sp>
        <p:nvSpPr>
          <p:cNvPr id="46" name="Text 44"/>
          <p:cNvSpPr/>
          <p:nvPr/>
        </p:nvSpPr>
        <p:spPr>
          <a:xfrm>
            <a:off x="411480" y="4059936"/>
            <a:ext cx="181051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Env variables</a:t>
            </a:r>
            <a:endParaRPr lang="en-US" sz="1100" dirty="0"/>
          </a:p>
        </p:txBody>
      </p:sp>
      <p:sp>
        <p:nvSpPr>
          <p:cNvPr id="47" name="Text 45"/>
          <p:cNvSpPr/>
          <p:nvPr/>
        </p:nvSpPr>
        <p:spPr>
          <a:xfrm>
            <a:off x="411480" y="43708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secrets safe</a:t>
            </a:r>
            <a:endParaRPr lang="en-US" sz="1000" dirty="0"/>
          </a:p>
        </p:txBody>
      </p:sp>
      <p:sp>
        <p:nvSpPr>
          <p:cNvPr id="48" name="Shape 46"/>
          <p:cNvSpPr/>
          <p:nvPr/>
        </p:nvSpPr>
        <p:spPr>
          <a:xfrm>
            <a:off x="2423160" y="3968496"/>
            <a:ext cx="1975104" cy="786384"/>
          </a:xfrm>
          <a:prstGeom prst="rect">
            <a:avLst/>
          </a:prstGeom>
          <a:solidFill>
            <a:srgbClr val="0E1020"/>
          </a:solidFill>
          <a:ln w="12700">
            <a:solidFill>
              <a:srgbClr val="F43F5E">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49" name="Shape 47"/>
          <p:cNvSpPr/>
          <p:nvPr/>
        </p:nvSpPr>
        <p:spPr>
          <a:xfrm>
            <a:off x="2423160" y="3968496"/>
            <a:ext cx="45720" cy="786384"/>
          </a:xfrm>
          <a:prstGeom prst="rect">
            <a:avLst/>
          </a:prstGeom>
          <a:solidFill>
            <a:srgbClr val="F43F5E"/>
          </a:solidFill>
          <a:ln w="12700">
            <a:solidFill>
              <a:srgbClr val="F43F5E"/>
            </a:solidFill>
            <a:prstDash val="solid"/>
          </a:ln>
        </p:spPr>
        <p:txBody>
          <a:bodyPr/>
          <a:lstStyle/>
          <a:p>
            <a:endParaRPr lang="en-US"/>
          </a:p>
        </p:txBody>
      </p:sp>
      <p:sp>
        <p:nvSpPr>
          <p:cNvPr id="50" name="Text 48"/>
          <p:cNvSpPr/>
          <p:nvPr/>
        </p:nvSpPr>
        <p:spPr>
          <a:xfrm>
            <a:off x="2514600" y="4059936"/>
            <a:ext cx="181051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No plaintext</a:t>
            </a:r>
            <a:endParaRPr lang="en-US" sz="1100" dirty="0"/>
          </a:p>
        </p:txBody>
      </p:sp>
      <p:sp>
        <p:nvSpPr>
          <p:cNvPr id="51" name="Text 49"/>
          <p:cNvSpPr/>
          <p:nvPr/>
        </p:nvSpPr>
        <p:spPr>
          <a:xfrm>
            <a:off x="2514600" y="43708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passwords ever</a:t>
            </a:r>
            <a:endParaRPr lang="en-US" sz="1000" dirty="0"/>
          </a:p>
        </p:txBody>
      </p:sp>
      <p:sp>
        <p:nvSpPr>
          <p:cNvPr id="52" name="Text 50"/>
          <p:cNvSpPr/>
          <p:nvPr/>
        </p:nvSpPr>
        <p:spPr>
          <a:xfrm>
            <a:off x="4663440" y="1719072"/>
            <a:ext cx="4114800" cy="347472"/>
          </a:xfrm>
          <a:prstGeom prst="rect">
            <a:avLst/>
          </a:prstGeom>
          <a:noFill/>
          <a:ln/>
        </p:spPr>
        <p:txBody>
          <a:bodyPr wrap="square" lIns="0" tIns="0" rIns="0" bIns="0" rtlCol="0" anchor="ctr"/>
          <a:lstStyle/>
          <a:p>
            <a:pPr marL="0" indent="0">
              <a:buNone/>
            </a:pPr>
            <a:r>
              <a:rPr lang="en-US" sz="1400" b="1" dirty="0">
                <a:solidFill>
                  <a:srgbClr val="19D9EF"/>
                </a:solidFill>
                <a:latin typeface="Calibri" pitchFamily="34" charset="0"/>
                <a:ea typeface="Calibri" pitchFamily="34" charset="-122"/>
                <a:cs typeface="Calibri" pitchFamily="34" charset="-120"/>
              </a:rPr>
              <a:t>⚙️  Local Setup</a:t>
            </a:r>
            <a:endParaRPr lang="en-US" sz="1400" dirty="0"/>
          </a:p>
        </p:txBody>
      </p:sp>
      <p:sp>
        <p:nvSpPr>
          <p:cNvPr id="53" name="Shape 51"/>
          <p:cNvSpPr/>
          <p:nvPr/>
        </p:nvSpPr>
        <p:spPr>
          <a:xfrm>
            <a:off x="4663440" y="2139696"/>
            <a:ext cx="1975104" cy="786384"/>
          </a:xfrm>
          <a:prstGeom prst="rect">
            <a:avLst/>
          </a:prstGeom>
          <a:solidFill>
            <a:srgbClr val="0E1020"/>
          </a:solidFill>
          <a:ln w="12700">
            <a:solidFill>
              <a:srgbClr val="4ADE80">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4" name="Shape 52"/>
          <p:cNvSpPr/>
          <p:nvPr/>
        </p:nvSpPr>
        <p:spPr>
          <a:xfrm>
            <a:off x="4663440" y="2139696"/>
            <a:ext cx="45720" cy="786384"/>
          </a:xfrm>
          <a:prstGeom prst="rect">
            <a:avLst/>
          </a:prstGeom>
          <a:solidFill>
            <a:srgbClr val="4ADE80"/>
          </a:solidFill>
          <a:ln w="12700">
            <a:solidFill>
              <a:srgbClr val="4ADE80"/>
            </a:solidFill>
            <a:prstDash val="solid"/>
          </a:ln>
        </p:spPr>
        <p:txBody>
          <a:bodyPr/>
          <a:lstStyle/>
          <a:p>
            <a:endParaRPr lang="en-US"/>
          </a:p>
        </p:txBody>
      </p:sp>
      <p:sp>
        <p:nvSpPr>
          <p:cNvPr id="55" name="Text 53"/>
          <p:cNvSpPr/>
          <p:nvPr/>
        </p:nvSpPr>
        <p:spPr>
          <a:xfrm>
            <a:off x="4754880" y="2231136"/>
            <a:ext cx="1810512" cy="274320"/>
          </a:xfrm>
          <a:prstGeom prst="rect">
            <a:avLst/>
          </a:prstGeom>
          <a:noFill/>
          <a:ln/>
        </p:spPr>
        <p:txBody>
          <a:bodyPr wrap="square" lIns="0" tIns="0" rIns="0" bIns="0"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MySQL 8</a:t>
            </a:r>
            <a:endParaRPr lang="en-US" sz="1000" dirty="0"/>
          </a:p>
        </p:txBody>
      </p:sp>
      <p:sp>
        <p:nvSpPr>
          <p:cNvPr id="56" name="Text 54"/>
          <p:cNvSpPr/>
          <p:nvPr/>
        </p:nvSpPr>
        <p:spPr>
          <a:xfrm>
            <a:off x="4754880" y="25420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Port 3306</a:t>
            </a:r>
            <a:endParaRPr lang="en-US" sz="1000" dirty="0"/>
          </a:p>
        </p:txBody>
      </p:sp>
      <p:sp>
        <p:nvSpPr>
          <p:cNvPr id="57" name="Shape 55"/>
          <p:cNvSpPr/>
          <p:nvPr/>
        </p:nvSpPr>
        <p:spPr>
          <a:xfrm>
            <a:off x="6766560" y="2139696"/>
            <a:ext cx="1975104" cy="786384"/>
          </a:xfrm>
          <a:prstGeom prst="rect">
            <a:avLst/>
          </a:prstGeom>
          <a:solidFill>
            <a:srgbClr val="0E1020"/>
          </a:solidFill>
          <a:ln w="12700">
            <a:solidFill>
              <a:srgbClr val="19D9EF">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8" name="Shape 56"/>
          <p:cNvSpPr/>
          <p:nvPr/>
        </p:nvSpPr>
        <p:spPr>
          <a:xfrm>
            <a:off x="6766560" y="2139696"/>
            <a:ext cx="45720" cy="786384"/>
          </a:xfrm>
          <a:prstGeom prst="rect">
            <a:avLst/>
          </a:prstGeom>
          <a:solidFill>
            <a:srgbClr val="19D9EF"/>
          </a:solidFill>
          <a:ln w="12700">
            <a:solidFill>
              <a:srgbClr val="19D9EF"/>
            </a:solidFill>
            <a:prstDash val="solid"/>
          </a:ln>
        </p:spPr>
        <p:txBody>
          <a:bodyPr/>
          <a:lstStyle/>
          <a:p>
            <a:endParaRPr lang="en-US"/>
          </a:p>
        </p:txBody>
      </p:sp>
      <p:sp>
        <p:nvSpPr>
          <p:cNvPr id="59" name="Text 57"/>
          <p:cNvSpPr/>
          <p:nvPr/>
        </p:nvSpPr>
        <p:spPr>
          <a:xfrm>
            <a:off x="6858000" y="2231136"/>
            <a:ext cx="1810512" cy="274320"/>
          </a:xfrm>
          <a:prstGeom prst="rect">
            <a:avLst/>
          </a:prstGeom>
          <a:noFill/>
          <a:ln/>
        </p:spPr>
        <p:txBody>
          <a:bodyPr wrap="square" lIns="0" tIns="0" rIns="0" bIns="0"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Cairo.sql</a:t>
            </a:r>
            <a:endParaRPr lang="en-US" sz="1000" dirty="0"/>
          </a:p>
        </p:txBody>
      </p:sp>
      <p:sp>
        <p:nvSpPr>
          <p:cNvPr id="60" name="Text 58"/>
          <p:cNvSpPr/>
          <p:nvPr/>
        </p:nvSpPr>
        <p:spPr>
          <a:xfrm>
            <a:off x="6858000" y="25420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10 tables + FK</a:t>
            </a:r>
            <a:endParaRPr lang="en-US" sz="1000" dirty="0"/>
          </a:p>
        </p:txBody>
      </p:sp>
      <p:sp>
        <p:nvSpPr>
          <p:cNvPr id="61" name="Shape 59"/>
          <p:cNvSpPr/>
          <p:nvPr/>
        </p:nvSpPr>
        <p:spPr>
          <a:xfrm>
            <a:off x="4663440" y="3054096"/>
            <a:ext cx="1975104" cy="786384"/>
          </a:xfrm>
          <a:prstGeom prst="rect">
            <a:avLst/>
          </a:prstGeom>
          <a:solidFill>
            <a:srgbClr val="0E1020"/>
          </a:solidFill>
          <a:ln w="12700">
            <a:solidFill>
              <a:srgbClr val="A78BFA">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62" name="Shape 60"/>
          <p:cNvSpPr/>
          <p:nvPr/>
        </p:nvSpPr>
        <p:spPr>
          <a:xfrm>
            <a:off x="4663440" y="3054096"/>
            <a:ext cx="45720" cy="786384"/>
          </a:xfrm>
          <a:prstGeom prst="rect">
            <a:avLst/>
          </a:prstGeom>
          <a:solidFill>
            <a:srgbClr val="A78BFA"/>
          </a:solidFill>
          <a:ln w="12700">
            <a:solidFill>
              <a:srgbClr val="A78BFA"/>
            </a:solidFill>
            <a:prstDash val="solid"/>
          </a:ln>
        </p:spPr>
        <p:txBody>
          <a:bodyPr/>
          <a:lstStyle/>
          <a:p>
            <a:endParaRPr lang="en-US"/>
          </a:p>
        </p:txBody>
      </p:sp>
      <p:sp>
        <p:nvSpPr>
          <p:cNvPr id="63" name="Text 61"/>
          <p:cNvSpPr/>
          <p:nvPr/>
        </p:nvSpPr>
        <p:spPr>
          <a:xfrm>
            <a:off x="4754880" y="3145536"/>
            <a:ext cx="1810512" cy="274320"/>
          </a:xfrm>
          <a:prstGeom prst="rect">
            <a:avLst/>
          </a:prstGeom>
          <a:noFill/>
          <a:ln/>
        </p:spPr>
        <p:txBody>
          <a:bodyPr wrap="square" lIns="0" tIns="0" rIns="0" bIns="0"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seed.sql</a:t>
            </a:r>
            <a:endParaRPr lang="en-US" sz="1000" dirty="0"/>
          </a:p>
        </p:txBody>
      </p:sp>
      <p:sp>
        <p:nvSpPr>
          <p:cNvPr id="64" name="Text 62"/>
          <p:cNvSpPr/>
          <p:nvPr/>
        </p:nvSpPr>
        <p:spPr>
          <a:xfrm>
            <a:off x="4754880" y="34564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4 users · 14 issues</a:t>
            </a:r>
            <a:endParaRPr lang="en-US" sz="1000" dirty="0"/>
          </a:p>
        </p:txBody>
      </p:sp>
      <p:sp>
        <p:nvSpPr>
          <p:cNvPr id="65" name="Shape 63"/>
          <p:cNvSpPr/>
          <p:nvPr/>
        </p:nvSpPr>
        <p:spPr>
          <a:xfrm>
            <a:off x="6766560" y="3054096"/>
            <a:ext cx="1975104" cy="786384"/>
          </a:xfrm>
          <a:prstGeom prst="rect">
            <a:avLst/>
          </a:prstGeom>
          <a:solidFill>
            <a:srgbClr val="0E1020"/>
          </a:solidFill>
          <a:ln w="12700">
            <a:solidFill>
              <a:srgbClr val="5F80F9">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66" name="Shape 64"/>
          <p:cNvSpPr/>
          <p:nvPr/>
        </p:nvSpPr>
        <p:spPr>
          <a:xfrm>
            <a:off x="6766560" y="3054096"/>
            <a:ext cx="45720" cy="786384"/>
          </a:xfrm>
          <a:prstGeom prst="rect">
            <a:avLst/>
          </a:prstGeom>
          <a:solidFill>
            <a:srgbClr val="5F80F9"/>
          </a:solidFill>
          <a:ln w="12700">
            <a:solidFill>
              <a:srgbClr val="5F80F9"/>
            </a:solidFill>
            <a:prstDash val="solid"/>
          </a:ln>
        </p:spPr>
        <p:txBody>
          <a:bodyPr/>
          <a:lstStyle/>
          <a:p>
            <a:endParaRPr lang="en-US"/>
          </a:p>
        </p:txBody>
      </p:sp>
      <p:sp>
        <p:nvSpPr>
          <p:cNvPr id="67" name="Text 65"/>
          <p:cNvSpPr/>
          <p:nvPr/>
        </p:nvSpPr>
        <p:spPr>
          <a:xfrm>
            <a:off x="6858000" y="3145536"/>
            <a:ext cx="1810512" cy="274320"/>
          </a:xfrm>
          <a:prstGeom prst="rect">
            <a:avLst/>
          </a:prstGeom>
          <a:noFill/>
          <a:ln/>
        </p:spPr>
        <p:txBody>
          <a:bodyPr wrap="square" lIns="0" tIns="0" rIns="0" bIns="0"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npm run dev</a:t>
            </a:r>
            <a:endParaRPr lang="en-US" sz="1000" dirty="0"/>
          </a:p>
        </p:txBody>
      </p:sp>
      <p:sp>
        <p:nvSpPr>
          <p:cNvPr id="68" name="Text 66"/>
          <p:cNvSpPr/>
          <p:nvPr/>
        </p:nvSpPr>
        <p:spPr>
          <a:xfrm>
            <a:off x="6858000" y="34564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localhost:5173</a:t>
            </a:r>
            <a:endParaRPr lang="en-US" sz="1000" dirty="0"/>
          </a:p>
        </p:txBody>
      </p:sp>
      <p:sp>
        <p:nvSpPr>
          <p:cNvPr id="69" name="Shape 67"/>
          <p:cNvSpPr/>
          <p:nvPr/>
        </p:nvSpPr>
        <p:spPr>
          <a:xfrm>
            <a:off x="4663440" y="3968496"/>
            <a:ext cx="1975104" cy="786384"/>
          </a:xfrm>
          <a:prstGeom prst="rect">
            <a:avLst/>
          </a:prstGeom>
          <a:solidFill>
            <a:srgbClr val="0E1020"/>
          </a:solidFill>
          <a:ln w="12700">
            <a:solidFill>
              <a:srgbClr val="FACC15">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70" name="Shape 68"/>
          <p:cNvSpPr/>
          <p:nvPr/>
        </p:nvSpPr>
        <p:spPr>
          <a:xfrm>
            <a:off x="4663440" y="3968496"/>
            <a:ext cx="45720" cy="786384"/>
          </a:xfrm>
          <a:prstGeom prst="rect">
            <a:avLst/>
          </a:prstGeom>
          <a:solidFill>
            <a:srgbClr val="FACC15"/>
          </a:solidFill>
          <a:ln w="12700">
            <a:solidFill>
              <a:srgbClr val="FACC15"/>
            </a:solidFill>
            <a:prstDash val="solid"/>
          </a:ln>
        </p:spPr>
        <p:txBody>
          <a:bodyPr/>
          <a:lstStyle/>
          <a:p>
            <a:endParaRPr lang="en-US"/>
          </a:p>
        </p:txBody>
      </p:sp>
      <p:sp>
        <p:nvSpPr>
          <p:cNvPr id="71" name="Text 69"/>
          <p:cNvSpPr/>
          <p:nvPr/>
        </p:nvSpPr>
        <p:spPr>
          <a:xfrm>
            <a:off x="4754880" y="4059936"/>
            <a:ext cx="1810512" cy="274320"/>
          </a:xfrm>
          <a:prstGeom prst="rect">
            <a:avLst/>
          </a:prstGeom>
          <a:noFill/>
          <a:ln/>
        </p:spPr>
        <p:txBody>
          <a:bodyPr wrap="square" lIns="0" tIns="0" rIns="0" bIns="0"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mvn spring-boot:run</a:t>
            </a:r>
            <a:endParaRPr lang="en-US" sz="1000" dirty="0"/>
          </a:p>
        </p:txBody>
      </p:sp>
      <p:sp>
        <p:nvSpPr>
          <p:cNvPr id="72" name="Text 70"/>
          <p:cNvSpPr/>
          <p:nvPr/>
        </p:nvSpPr>
        <p:spPr>
          <a:xfrm>
            <a:off x="4754880" y="43708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localhost:8081</a:t>
            </a:r>
            <a:endParaRPr lang="en-US" sz="1000" dirty="0"/>
          </a:p>
        </p:txBody>
      </p:sp>
      <p:sp>
        <p:nvSpPr>
          <p:cNvPr id="73" name="Shape 71"/>
          <p:cNvSpPr/>
          <p:nvPr/>
        </p:nvSpPr>
        <p:spPr>
          <a:xfrm>
            <a:off x="6766560" y="3968496"/>
            <a:ext cx="1975104" cy="786384"/>
          </a:xfrm>
          <a:prstGeom prst="rect">
            <a:avLst/>
          </a:prstGeom>
          <a:solidFill>
            <a:srgbClr val="0E1020"/>
          </a:solidFill>
          <a:ln w="12700">
            <a:solidFill>
              <a:srgbClr val="F43F5E">
                <a:alpha val="45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74" name="Shape 72"/>
          <p:cNvSpPr/>
          <p:nvPr/>
        </p:nvSpPr>
        <p:spPr>
          <a:xfrm>
            <a:off x="6766560" y="3968496"/>
            <a:ext cx="45720" cy="786384"/>
          </a:xfrm>
          <a:prstGeom prst="rect">
            <a:avLst/>
          </a:prstGeom>
          <a:solidFill>
            <a:srgbClr val="F43F5E"/>
          </a:solidFill>
          <a:ln w="12700">
            <a:solidFill>
              <a:srgbClr val="F43F5E"/>
            </a:solidFill>
            <a:prstDash val="solid"/>
          </a:ln>
        </p:spPr>
        <p:txBody>
          <a:bodyPr/>
          <a:lstStyle/>
          <a:p>
            <a:endParaRPr lang="en-US"/>
          </a:p>
        </p:txBody>
      </p:sp>
      <p:sp>
        <p:nvSpPr>
          <p:cNvPr id="75" name="Text 73"/>
          <p:cNvSpPr/>
          <p:nvPr/>
        </p:nvSpPr>
        <p:spPr>
          <a:xfrm>
            <a:off x="6858000" y="4059936"/>
            <a:ext cx="1810512" cy="274320"/>
          </a:xfrm>
          <a:prstGeom prst="rect">
            <a:avLst/>
          </a:prstGeom>
          <a:noFill/>
          <a:ln/>
        </p:spPr>
        <p:txBody>
          <a:bodyPr wrap="square" lIns="0" tIns="0" rIns="0" bIns="0"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admin@cairo.com</a:t>
            </a:r>
            <a:endParaRPr lang="en-US" sz="1000" dirty="0"/>
          </a:p>
        </p:txBody>
      </p:sp>
      <p:sp>
        <p:nvSpPr>
          <p:cNvPr id="76" name="Text 74"/>
          <p:cNvSpPr/>
          <p:nvPr/>
        </p:nvSpPr>
        <p:spPr>
          <a:xfrm>
            <a:off x="6858000" y="4370832"/>
            <a:ext cx="1810512" cy="274320"/>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password123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80F"/>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530352"/>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Lessons Learned</a:t>
            </a:r>
            <a:endParaRPr lang="en-US" sz="3000" dirty="0"/>
          </a:p>
        </p:txBody>
      </p:sp>
      <p:sp>
        <p:nvSpPr>
          <p:cNvPr id="3" name="Text 1"/>
          <p:cNvSpPr/>
          <p:nvPr/>
        </p:nvSpPr>
        <p:spPr>
          <a:xfrm>
            <a:off x="365760" y="749808"/>
            <a:ext cx="8412480" cy="256032"/>
          </a:xfrm>
          <a:prstGeom prst="rect">
            <a:avLst/>
          </a:prstGeom>
          <a:noFill/>
          <a:ln/>
        </p:spPr>
        <p:txBody>
          <a:bodyPr wrap="square" lIns="0" tIns="0" rIns="0" bIns="0" rtlCol="0" anchor="ctr"/>
          <a:lstStyle/>
          <a:p>
            <a:pPr marL="0" indent="0">
              <a:buNone/>
            </a:pPr>
            <a:r>
              <a:rPr lang="en-US" sz="1100">
                <a:solidFill>
                  <a:srgbClr val="8892C8"/>
                </a:solidFill>
                <a:latin typeface="Calibri" pitchFamily="34" charset="0"/>
                <a:ea typeface="Calibri" pitchFamily="34" charset="-122"/>
                <a:cs typeface="Calibri" pitchFamily="34" charset="-120"/>
              </a:rPr>
              <a:t>Three key takeaways from </a:t>
            </a:r>
            <a:r>
              <a:rPr lang="en-US" sz="1100" dirty="0">
                <a:solidFill>
                  <a:srgbClr val="8892C8"/>
                </a:solidFill>
                <a:latin typeface="Calibri" pitchFamily="34" charset="0"/>
                <a:ea typeface="Calibri" pitchFamily="34" charset="-122"/>
                <a:cs typeface="Calibri" pitchFamily="34" charset="-120"/>
              </a:rPr>
              <a:t>the 7-day sprint</a:t>
            </a:r>
            <a:endParaRPr lang="en-US" sz="1100" dirty="0"/>
          </a:p>
        </p:txBody>
      </p:sp>
      <p:sp>
        <p:nvSpPr>
          <p:cNvPr id="4" name="Shape 2"/>
          <p:cNvSpPr/>
          <p:nvPr/>
        </p:nvSpPr>
        <p:spPr>
          <a:xfrm>
            <a:off x="256032" y="1115568"/>
            <a:ext cx="8631936" cy="1160000"/>
          </a:xfrm>
          <a:prstGeom prst="rect">
            <a:avLst/>
          </a:prstGeom>
          <a:solidFill>
            <a:srgbClr val="0E1020"/>
          </a:solidFill>
          <a:ln w="12700">
            <a:solidFill>
              <a:srgbClr val="454D7A">
                <a:alpha val="50000"/>
              </a:srgbClr>
            </a:solidFill>
            <a:prstDash val="solid"/>
          </a:ln>
        </p:spPr>
        <p:txBody>
          <a:bodyPr/>
          <a:lstStyle/>
          <a:p>
            <a:endParaRPr lang="en-US"/>
          </a:p>
        </p:txBody>
      </p:sp>
      <p:sp>
        <p:nvSpPr>
          <p:cNvPr id="5" name="Text 3"/>
          <p:cNvSpPr/>
          <p:nvPr/>
        </p:nvSpPr>
        <p:spPr>
          <a:xfrm>
            <a:off x="320040" y="1457824"/>
            <a:ext cx="475488" cy="475488"/>
          </a:xfrm>
          <a:prstGeom prst="rect">
            <a:avLst/>
          </a:prstGeom>
          <a:noFill/>
          <a:ln/>
        </p:spPr>
        <p:txBody>
          <a:bodyPr wrap="square" lIns="0" tIns="0" rIns="0" bIns="0" rtlCol="0" anchor="ctr"/>
          <a:lstStyle/>
          <a:p>
            <a:pPr marL="0" indent="0" algn="ctr">
              <a:buNone/>
            </a:pPr>
            <a:r>
              <a:rPr lang="en-US" sz="1800">
                <a:solidFill>
                  <a:srgbClr val="000000"/>
                </a:solidFill>
              </a:rPr>
              <a:t>🏗️</a:t>
            </a:r>
            <a:endParaRPr lang="en-US" sz="1800" dirty="0"/>
          </a:p>
        </p:txBody>
      </p:sp>
      <p:sp>
        <p:nvSpPr>
          <p:cNvPr id="6" name="Text 4"/>
          <p:cNvSpPr/>
          <p:nvPr/>
        </p:nvSpPr>
        <p:spPr>
          <a:xfrm>
            <a:off x="859536" y="1315568"/>
            <a:ext cx="3017520" cy="256032"/>
          </a:xfrm>
          <a:prstGeom prst="rect">
            <a:avLst/>
          </a:prstGeom>
          <a:noFill/>
          <a:ln/>
        </p:spPr>
        <p:txBody>
          <a:bodyPr wrap="square" lIns="0" tIns="0" rIns="0" bIns="0" rtlCol="0" anchor="ctr"/>
          <a:lstStyle/>
          <a:p>
            <a:pPr marL="0" indent="0">
              <a:buNone/>
            </a:pPr>
            <a:r>
              <a:rPr lang="en-US" sz="1100" b="1">
                <a:solidFill>
                  <a:srgbClr val="19D9EF"/>
                </a:solidFill>
                <a:latin typeface="Calibri" pitchFamily="34" charset="0"/>
                <a:ea typeface="Calibri" pitchFamily="34" charset="-122"/>
                <a:cs typeface="Calibri" pitchFamily="34" charset="-120"/>
              </a:rPr>
              <a:t>Database Design First</a:t>
            </a:r>
            <a:endParaRPr lang="en-US" sz="1100" dirty="0"/>
          </a:p>
        </p:txBody>
      </p:sp>
      <p:sp>
        <p:nvSpPr>
          <p:cNvPr id="7" name="Text 5"/>
          <p:cNvSpPr/>
          <p:nvPr/>
        </p:nvSpPr>
        <p:spPr>
          <a:xfrm>
            <a:off x="859536" y="1601600"/>
            <a:ext cx="7918704" cy="450000"/>
          </a:xfrm>
          <a:prstGeom prst="rect">
            <a:avLst/>
          </a:prstGeom>
          <a:noFill/>
          <a:ln/>
        </p:spPr>
        <p:txBody>
          <a:bodyPr wrap="square" lIns="0" tIns="0" rIns="0" bIns="0" rtlCol="0" anchor="ctr"/>
          <a:lstStyle/>
          <a:p>
            <a:pPr marL="0" indent="0">
              <a:buNone/>
            </a:pPr>
            <a:r>
              <a:rPr lang="en-US" sz="1000">
                <a:solidFill>
                  <a:srgbClr val="EEF0FF"/>
                </a:solidFill>
                <a:latin typeface="Calibri" pitchFamily="34" charset="0"/>
                <a:ea typeface="Calibri" pitchFamily="34" charset="-122"/>
                <a:cs typeface="Calibri" pitchFamily="34" charset="-120"/>
              </a:rPr>
              <a:t>Spent Day 1 on the full ERD before writing a single line of code</a:t>
            </a:r>
            <a:r>
              <a:rPr lang="en-US" sz="1000" dirty="0">
                <a:solidFill>
                  <a:srgbClr val="EEF0FF"/>
                </a:solidFill>
                <a:latin typeface="Calibri" pitchFamily="34" charset="0"/>
                <a:ea typeface="Calibri" pitchFamily="34" charset="-122"/>
                <a:cs typeface="Calibri" pitchFamily="34" charset="-120"/>
              </a:rPr>
              <a:t>. </a:t>
            </a:r>
            <a:r>
              <a:rPr lang="en-US" sz="1000">
                <a:solidFill>
                  <a:srgbClr val="EEF0FF"/>
                </a:solidFill>
                <a:latin typeface="Calibri" pitchFamily="34" charset="0"/>
                <a:ea typeface="Calibri" pitchFamily="34" charset="-122"/>
                <a:cs typeface="Calibri" pitchFamily="34" charset="-120"/>
              </a:rPr>
              <a:t>Never changed a table during the entire build </a:t>
            </a:r>
            <a:r>
              <a:rPr lang="en-US" sz="1000" dirty="0">
                <a:solidFill>
                  <a:srgbClr val="EEF0FF"/>
                </a:solidFill>
                <a:latin typeface="Calibri" pitchFamily="34" charset="0"/>
                <a:ea typeface="Calibri" pitchFamily="34" charset="-122"/>
                <a:cs typeface="Calibri" pitchFamily="34" charset="-120"/>
              </a:rPr>
              <a:t>— </a:t>
            </a:r>
            <a:r>
              <a:rPr lang="en-US" sz="1000">
                <a:solidFill>
                  <a:srgbClr val="EEF0FF"/>
                </a:solidFill>
                <a:latin typeface="Calibri" pitchFamily="34" charset="0"/>
                <a:ea typeface="Calibri" pitchFamily="34" charset="-122"/>
                <a:cs typeface="Calibri" pitchFamily="34" charset="-120"/>
              </a:rPr>
              <a:t>designing first kept everything organized and simple</a:t>
            </a:r>
            <a:r>
              <a:rPr lang="en-US" sz="1000" dirty="0">
                <a:solidFill>
                  <a:srgbClr val="EEF0FF"/>
                </a:solidFill>
                <a:latin typeface="Calibri" pitchFamily="34" charset="0"/>
                <a:ea typeface="Calibri" pitchFamily="34" charset="-122"/>
                <a:cs typeface="Calibri" pitchFamily="34" charset="-120"/>
              </a:rPr>
              <a:t>.</a:t>
            </a:r>
            <a:endParaRPr lang="en-US" sz="1000" dirty="0"/>
          </a:p>
        </p:txBody>
      </p:sp>
      <p:sp>
        <p:nvSpPr>
          <p:cNvPr id="8" name="Shape 6"/>
          <p:cNvSpPr/>
          <p:nvPr/>
        </p:nvSpPr>
        <p:spPr>
          <a:xfrm>
            <a:off x="256032" y="2455808"/>
            <a:ext cx="8631936" cy="1160000"/>
          </a:xfrm>
          <a:prstGeom prst="rect">
            <a:avLst/>
          </a:prstGeom>
          <a:solidFill>
            <a:srgbClr val="0E1020"/>
          </a:solidFill>
          <a:ln w="12700">
            <a:solidFill>
              <a:srgbClr val="454D7A">
                <a:alpha val="50000"/>
              </a:srgbClr>
            </a:solidFill>
            <a:prstDash val="solid"/>
          </a:ln>
        </p:spPr>
        <p:txBody>
          <a:bodyPr/>
          <a:lstStyle/>
          <a:p>
            <a:endParaRPr lang="en-US"/>
          </a:p>
        </p:txBody>
      </p:sp>
      <p:sp>
        <p:nvSpPr>
          <p:cNvPr id="9" name="Text 7"/>
          <p:cNvSpPr/>
          <p:nvPr/>
        </p:nvSpPr>
        <p:spPr>
          <a:xfrm>
            <a:off x="320040" y="4138304"/>
            <a:ext cx="475488" cy="475488"/>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10" name="Text 8"/>
          <p:cNvSpPr/>
          <p:nvPr/>
        </p:nvSpPr>
        <p:spPr>
          <a:xfrm>
            <a:off x="859536" y="2655808"/>
            <a:ext cx="3017520" cy="256032"/>
          </a:xfrm>
          <a:prstGeom prst="rect">
            <a:avLst/>
          </a:prstGeom>
          <a:noFill/>
          <a:ln/>
        </p:spPr>
        <p:txBody>
          <a:bodyPr wrap="square" lIns="0" tIns="0" rIns="0" bIns="0" rtlCol="0" anchor="ctr"/>
          <a:lstStyle/>
          <a:p>
            <a:pPr marL="0" indent="0">
              <a:buNone/>
            </a:pPr>
            <a:r>
              <a:rPr lang="en-US" sz="1100" b="1">
                <a:solidFill>
                  <a:srgbClr val="19D9EF"/>
                </a:solidFill>
                <a:latin typeface="Calibri" pitchFamily="34" charset="0"/>
                <a:ea typeface="Calibri" pitchFamily="34" charset="-122"/>
                <a:cs typeface="Calibri" pitchFamily="34" charset="-120"/>
              </a:rPr>
              <a:t>Handle Errors Properly</a:t>
            </a:r>
            <a:endParaRPr lang="en-US" sz="1100" dirty="0"/>
          </a:p>
        </p:txBody>
      </p:sp>
      <p:sp>
        <p:nvSpPr>
          <p:cNvPr id="11" name="Text 9"/>
          <p:cNvSpPr/>
          <p:nvPr/>
        </p:nvSpPr>
        <p:spPr>
          <a:xfrm>
            <a:off x="859536" y="2941840"/>
            <a:ext cx="7918704" cy="450000"/>
          </a:xfrm>
          <a:prstGeom prst="rect">
            <a:avLst/>
          </a:prstGeom>
          <a:noFill/>
          <a:ln/>
        </p:spPr>
        <p:txBody>
          <a:bodyPr wrap="square" lIns="0" tIns="0" rIns="0" bIns="0" rtlCol="0" anchor="ctr"/>
          <a:lstStyle/>
          <a:p>
            <a:pPr marL="0" indent="0">
              <a:buNone/>
            </a:pPr>
            <a:r>
              <a:rPr lang="en-US" sz="1000">
                <a:solidFill>
                  <a:srgbClr val="EEF0FF"/>
                </a:solidFill>
                <a:latin typeface="Calibri" pitchFamily="34" charset="0"/>
                <a:ea typeface="Calibri" pitchFamily="34" charset="-122"/>
                <a:cs typeface="Calibri" pitchFamily="34" charset="-120"/>
              </a:rPr>
              <a:t>Wrong password returned a </a:t>
            </a:r>
            <a:r>
              <a:rPr lang="en-US" sz="1000" dirty="0">
                <a:solidFill>
                  <a:srgbClr val="EEF0FF"/>
                </a:solidFill>
                <a:latin typeface="Calibri" pitchFamily="34" charset="0"/>
                <a:ea typeface="Calibri" pitchFamily="34" charset="-122"/>
                <a:cs typeface="Calibri" pitchFamily="34" charset="-120"/>
              </a:rPr>
              <a:t>500 </a:t>
            </a:r>
            <a:r>
              <a:rPr lang="en-US" sz="1000">
                <a:solidFill>
                  <a:srgbClr val="EEF0FF"/>
                </a:solidFill>
                <a:latin typeface="Calibri" pitchFamily="34" charset="0"/>
                <a:ea typeface="Calibri" pitchFamily="34" charset="-122"/>
                <a:cs typeface="Calibri" pitchFamily="34" charset="-120"/>
              </a:rPr>
              <a:t>instead of a 401 — confusing and unprofessional. One extra exception </a:t>
            </a:r>
            <a:r>
              <a:rPr lang="en-US" sz="1000" dirty="0">
                <a:solidFill>
                  <a:srgbClr val="EEF0FF"/>
                </a:solidFill>
                <a:latin typeface="Calibri" pitchFamily="34" charset="0"/>
                <a:ea typeface="Calibri" pitchFamily="34" charset="-122"/>
                <a:cs typeface="Calibri" pitchFamily="34" charset="-120"/>
              </a:rPr>
              <a:t>handler</a:t>
            </a:r>
            <a:r>
              <a:rPr lang="en-US" sz="1000">
                <a:solidFill>
                  <a:srgbClr val="EEF0FF"/>
                </a:solidFill>
                <a:latin typeface="Calibri" pitchFamily="34" charset="0"/>
                <a:ea typeface="Calibri" pitchFamily="34" charset="-122"/>
                <a:cs typeface="Calibri" pitchFamily="34" charset="-120"/>
              </a:rPr>
              <a:t> fixed it</a:t>
            </a:r>
            <a:r>
              <a:rPr lang="en-US" sz="1000" dirty="0">
                <a:solidFill>
                  <a:srgbClr val="EEF0FF"/>
                </a:solidFill>
                <a:latin typeface="Calibri" pitchFamily="34" charset="0"/>
                <a:ea typeface="Calibri" pitchFamily="34" charset="-122"/>
                <a:cs typeface="Calibri" pitchFamily="34" charset="-120"/>
              </a:rPr>
              <a:t>. </a:t>
            </a:r>
            <a:r>
              <a:rPr lang="en-US" sz="1000">
                <a:solidFill>
                  <a:srgbClr val="EEF0FF"/>
                </a:solidFill>
                <a:latin typeface="Calibri" pitchFamily="34" charset="0"/>
                <a:ea typeface="Calibri" pitchFamily="34" charset="-122"/>
                <a:cs typeface="Calibri" pitchFamily="34" charset="-120"/>
              </a:rPr>
              <a:t>Small fix, big difference</a:t>
            </a:r>
            <a:r>
              <a:rPr lang="en-US" sz="1000" dirty="0">
                <a:solidFill>
                  <a:srgbClr val="EEF0FF"/>
                </a:solidFill>
                <a:latin typeface="Calibri" pitchFamily="34" charset="0"/>
                <a:ea typeface="Calibri" pitchFamily="34" charset="-122"/>
                <a:cs typeface="Calibri" pitchFamily="34" charset="-120"/>
              </a:rPr>
              <a:t>.</a:t>
            </a:r>
            <a:endParaRPr lang="en-US" sz="1000" dirty="0"/>
          </a:p>
        </p:txBody>
      </p:sp>
      <p:sp>
        <p:nvSpPr>
          <p:cNvPr id="12" name="Shape 10"/>
          <p:cNvSpPr/>
          <p:nvPr/>
        </p:nvSpPr>
        <p:spPr>
          <a:xfrm>
            <a:off x="256032" y="3796048"/>
            <a:ext cx="8631936" cy="1160000"/>
          </a:xfrm>
          <a:prstGeom prst="rect">
            <a:avLst/>
          </a:prstGeom>
          <a:solidFill>
            <a:srgbClr val="0E1020"/>
          </a:solidFill>
          <a:ln w="12700">
            <a:solidFill>
              <a:srgbClr val="454D7A">
                <a:alpha val="50000"/>
              </a:srgbClr>
            </a:solidFill>
            <a:prstDash val="solid"/>
          </a:ln>
        </p:spPr>
        <p:txBody>
          <a:bodyPr/>
          <a:lstStyle/>
          <a:p>
            <a:endParaRPr lang="en-US"/>
          </a:p>
        </p:txBody>
      </p:sp>
      <p:sp>
        <p:nvSpPr>
          <p:cNvPr id="13" name="Text 11"/>
          <p:cNvSpPr/>
          <p:nvPr/>
        </p:nvSpPr>
        <p:spPr>
          <a:xfrm>
            <a:off x="320040" y="2798064"/>
            <a:ext cx="475488" cy="475488"/>
          </a:xfrm>
          <a:prstGeom prst="rect">
            <a:avLst/>
          </a:prstGeom>
          <a:noFill/>
          <a:ln/>
        </p:spPr>
        <p:txBody>
          <a:bodyPr wrap="square" lIns="0" tIns="0" rIns="0" bIns="0" rtlCol="0" anchor="ctr"/>
          <a:lstStyle/>
          <a:p>
            <a:pPr marL="0" indent="0" algn="ctr">
              <a:buNone/>
            </a:pPr>
            <a:r>
              <a:rPr lang="en-US" sz="1800">
                <a:solidFill>
                  <a:srgbClr val="000000"/>
                </a:solidFill>
              </a:rPr>
              <a:t>🔧</a:t>
            </a:r>
            <a:endParaRPr lang="en-US" sz="1800" dirty="0"/>
          </a:p>
        </p:txBody>
      </p:sp>
      <p:sp>
        <p:nvSpPr>
          <p:cNvPr id="14" name="Text 12"/>
          <p:cNvSpPr/>
          <p:nvPr/>
        </p:nvSpPr>
        <p:spPr>
          <a:xfrm>
            <a:off x="859536" y="3996048"/>
            <a:ext cx="3017520" cy="256032"/>
          </a:xfrm>
          <a:prstGeom prst="rect">
            <a:avLst/>
          </a:prstGeom>
          <a:noFill/>
          <a:ln/>
        </p:spPr>
        <p:txBody>
          <a:bodyPr wrap="square" lIns="0" tIns="0" rIns="0" bIns="0" rtlCol="0" anchor="ctr"/>
          <a:lstStyle/>
          <a:p>
            <a:pPr marL="0" indent="0">
              <a:buNone/>
            </a:pPr>
            <a:r>
              <a:rPr lang="en-US" sz="1100" b="1">
                <a:solidFill>
                  <a:srgbClr val="19D9EF"/>
                </a:solidFill>
                <a:latin typeface="Calibri" pitchFamily="34" charset="0"/>
                <a:ea typeface="Calibri" pitchFamily="34" charset="-122"/>
                <a:cs typeface="Calibri" pitchFamily="34" charset="-120"/>
              </a:rPr>
              <a:t>When a Tool Fails, Build It</a:t>
            </a:r>
            <a:endParaRPr lang="en-US" sz="1100" dirty="0"/>
          </a:p>
        </p:txBody>
      </p:sp>
      <p:sp>
        <p:nvSpPr>
          <p:cNvPr id="15" name="Text 13"/>
          <p:cNvSpPr/>
          <p:nvPr/>
        </p:nvSpPr>
        <p:spPr>
          <a:xfrm>
            <a:off x="859536" y="4282080"/>
            <a:ext cx="7918704" cy="450000"/>
          </a:xfrm>
          <a:prstGeom prst="rect">
            <a:avLst/>
          </a:prstGeom>
          <a:noFill/>
          <a:ln/>
        </p:spPr>
        <p:txBody>
          <a:bodyPr wrap="square" lIns="0" tIns="0" rIns="0" bIns="0" rtlCol="0" anchor="ctr"/>
          <a:lstStyle/>
          <a:p>
            <a:pPr marL="0" indent="0">
              <a:buNone/>
            </a:pPr>
            <a:r>
              <a:rPr lang="en-US" sz="1000">
                <a:solidFill>
                  <a:srgbClr val="EEF0FF"/>
                </a:solidFill>
                <a:latin typeface="Calibri" pitchFamily="34" charset="0"/>
                <a:ea typeface="Calibri" pitchFamily="34" charset="-122"/>
                <a:cs typeface="Calibri" pitchFamily="34" charset="-120"/>
              </a:rPr>
              <a:t>The animation library wouldn’t install</a:t>
            </a:r>
            <a:r>
              <a:rPr lang="en-US" sz="1000" dirty="0">
                <a:solidFill>
                  <a:srgbClr val="EEF0FF"/>
                </a:solidFill>
                <a:latin typeface="Calibri" pitchFamily="34" charset="0"/>
                <a:ea typeface="Calibri" pitchFamily="34" charset="-122"/>
                <a:cs typeface="Calibri" pitchFamily="34" charset="-120"/>
              </a:rPr>
              <a:t>. </a:t>
            </a:r>
            <a:r>
              <a:rPr lang="en-US" sz="1000">
                <a:solidFill>
                  <a:srgbClr val="EEF0FF"/>
                </a:solidFill>
                <a:latin typeface="Calibri" pitchFamily="34" charset="0"/>
                <a:ea typeface="Calibri" pitchFamily="34" charset="-122"/>
                <a:cs typeface="Calibri" pitchFamily="34" charset="-120"/>
              </a:rPr>
              <a:t>Wrote the entire canvas animation from scratch — better outcome since every line is understood and fully owned</a:t>
            </a:r>
            <a:r>
              <a:rPr lang="en-US" sz="1000" dirty="0">
                <a:solidFill>
                  <a:srgbClr val="EEF0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80F"/>
        </a:solidFill>
        <a:effectLst/>
      </p:bgPr>
    </p:bg>
    <p:spTree>
      <p:nvGrpSpPr>
        <p:cNvPr id="1" name=""/>
        <p:cNvGrpSpPr/>
        <p:nvPr/>
      </p:nvGrpSpPr>
      <p:grpSpPr>
        <a:xfrm>
          <a:off x="0" y="0"/>
          <a:ext cx="0" cy="0"/>
          <a:chOff x="0" y="0"/>
          <a:chExt cx="0" cy="0"/>
        </a:xfrm>
      </p:grpSpPr>
      <p:sp>
        <p:nvSpPr>
          <p:cNvPr id="2" name="Shape 0"/>
          <p:cNvSpPr/>
          <p:nvPr/>
        </p:nvSpPr>
        <p:spPr>
          <a:xfrm>
            <a:off x="4572000" y="0"/>
            <a:ext cx="4572000" cy="4572000"/>
          </a:xfrm>
          <a:prstGeom prst="ellipse">
            <a:avLst/>
          </a:prstGeom>
          <a:solidFill>
            <a:srgbClr val="3529D0">
              <a:alpha val="12000"/>
            </a:srgbClr>
          </a:solidFill>
          <a:ln w="12700">
            <a:solidFill>
              <a:srgbClr val="3529D0">
                <a:alpha val="12000"/>
              </a:srgbClr>
            </a:solidFill>
            <a:prstDash val="solid"/>
          </a:ln>
        </p:spPr>
        <p:txBody>
          <a:bodyPr/>
          <a:lstStyle/>
          <a:p>
            <a:endParaRPr lang="en-US"/>
          </a:p>
        </p:txBody>
      </p:sp>
      <p:sp>
        <p:nvSpPr>
          <p:cNvPr id="3" name="Text 1"/>
          <p:cNvSpPr/>
          <p:nvPr/>
        </p:nvSpPr>
        <p:spPr>
          <a:xfrm>
            <a:off x="347472" y="322350"/>
            <a:ext cx="8412480" cy="530352"/>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Future Enhancements</a:t>
            </a:r>
            <a:endParaRPr lang="en-US" sz="3000" dirty="0"/>
          </a:p>
        </p:txBody>
      </p:sp>
      <p:sp>
        <p:nvSpPr>
          <p:cNvPr id="4" name="Shape 2"/>
          <p:cNvSpPr/>
          <p:nvPr/>
        </p:nvSpPr>
        <p:spPr>
          <a:xfrm>
            <a:off x="160020" y="980702"/>
            <a:ext cx="8823960" cy="1536192"/>
          </a:xfrm>
          <a:prstGeom prst="rect">
            <a:avLst/>
          </a:prstGeom>
          <a:solidFill>
            <a:srgbClr val="050A2E"/>
          </a:solidFill>
          <a:ln w="12700">
            <a:solidFill>
              <a:srgbClr val="19D9EF">
                <a:alpha val="7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5" name="Shape 3"/>
          <p:cNvSpPr/>
          <p:nvPr/>
        </p:nvSpPr>
        <p:spPr>
          <a:xfrm>
            <a:off x="160020" y="980702"/>
            <a:ext cx="64008" cy="1536192"/>
          </a:xfrm>
          <a:prstGeom prst="rect">
            <a:avLst/>
          </a:prstGeom>
          <a:solidFill>
            <a:srgbClr val="19D9EF"/>
          </a:solidFill>
          <a:ln w="12700">
            <a:solidFill>
              <a:srgbClr val="19D9EF"/>
            </a:solidFill>
            <a:prstDash val="solid"/>
          </a:ln>
        </p:spPr>
        <p:txBody>
          <a:bodyPr/>
          <a:lstStyle/>
          <a:p>
            <a:endParaRPr lang="en-US"/>
          </a:p>
        </p:txBody>
      </p:sp>
      <p:sp>
        <p:nvSpPr>
          <p:cNvPr id="6" name="Text 4"/>
          <p:cNvSpPr/>
          <p:nvPr/>
        </p:nvSpPr>
        <p:spPr>
          <a:xfrm>
            <a:off x="288036" y="1035566"/>
            <a:ext cx="640080" cy="640080"/>
          </a:xfrm>
          <a:prstGeom prst="rect">
            <a:avLst/>
          </a:prstGeom>
          <a:noFill/>
          <a:ln/>
        </p:spPr>
        <p:txBody>
          <a:bodyPr wrap="square" lIns="0" tIns="0" rIns="0" bIns="0" rtlCol="0" anchor="ctr"/>
          <a:lstStyle/>
          <a:p>
            <a:pPr marL="0" indent="0" algn="ctr">
              <a:buNone/>
            </a:pPr>
            <a:r>
              <a:rPr lang="en-US" sz="3000" dirty="0">
                <a:solidFill>
                  <a:srgbClr val="000000"/>
                </a:solidFill>
              </a:rPr>
              <a:t>🤖</a:t>
            </a:r>
            <a:endParaRPr lang="en-US" sz="3000" dirty="0"/>
          </a:p>
        </p:txBody>
      </p:sp>
      <p:sp>
        <p:nvSpPr>
          <p:cNvPr id="7" name="Text 5"/>
          <p:cNvSpPr/>
          <p:nvPr/>
        </p:nvSpPr>
        <p:spPr>
          <a:xfrm>
            <a:off x="1001268" y="1035566"/>
            <a:ext cx="7315200" cy="384048"/>
          </a:xfrm>
          <a:prstGeom prst="rect">
            <a:avLst/>
          </a:prstGeom>
          <a:noFill/>
          <a:ln/>
        </p:spPr>
        <p:txBody>
          <a:bodyPr wrap="square" lIns="0" tIns="0" rIns="0" bIns="0" rtlCol="0" anchor="ctr"/>
          <a:lstStyle/>
          <a:p>
            <a:pPr marL="0" indent="0">
              <a:buNone/>
            </a:pPr>
            <a:r>
              <a:rPr lang="en-US" sz="1800" b="1" dirty="0">
                <a:solidFill>
                  <a:srgbClr val="19D9EF"/>
                </a:solidFill>
                <a:latin typeface="Calibri" pitchFamily="34" charset="0"/>
                <a:ea typeface="Calibri" pitchFamily="34" charset="-122"/>
                <a:cs typeface="Calibri" pitchFamily="34" charset="-120"/>
              </a:rPr>
              <a:t>AI-Powered Workflow Assistant</a:t>
            </a:r>
            <a:endParaRPr lang="en-US" sz="1800" dirty="0"/>
          </a:p>
        </p:txBody>
      </p:sp>
      <p:sp>
        <p:nvSpPr>
          <p:cNvPr id="8" name="Text 6"/>
          <p:cNvSpPr/>
          <p:nvPr/>
        </p:nvSpPr>
        <p:spPr>
          <a:xfrm>
            <a:off x="1001268" y="1072142"/>
            <a:ext cx="7315200" cy="256032"/>
          </a:xfrm>
          <a:prstGeom prst="rect">
            <a:avLst/>
          </a:prstGeom>
          <a:noFill/>
          <a:ln/>
        </p:spPr>
        <p:txBody>
          <a:bodyPr wrap="square" lIns="0" tIns="0" rIns="0" bIns="0" rtlCol="0" anchor="ctr"/>
          <a:lstStyle/>
          <a:p>
            <a:pPr marL="0" indent="0" algn="r">
              <a:buNone/>
            </a:pPr>
            <a:r>
              <a:rPr lang="en-US" sz="900" b="1" kern="0" spc="200" dirty="0">
                <a:solidFill>
                  <a:srgbClr val="FACC15"/>
                </a:solidFill>
                <a:latin typeface="Calibri" pitchFamily="34" charset="0"/>
                <a:ea typeface="Calibri" pitchFamily="34" charset="-122"/>
                <a:cs typeface="Calibri" pitchFamily="34" charset="-120"/>
              </a:rPr>
              <a:t>PRIORITY ENHANCEMENT</a:t>
            </a:r>
            <a:endParaRPr lang="en-US" sz="900" dirty="0"/>
          </a:p>
        </p:txBody>
      </p:sp>
      <p:sp>
        <p:nvSpPr>
          <p:cNvPr id="9" name="Text 7"/>
          <p:cNvSpPr/>
          <p:nvPr/>
        </p:nvSpPr>
        <p:spPr>
          <a:xfrm>
            <a:off x="1001268" y="1437902"/>
            <a:ext cx="7589520" cy="877824"/>
          </a:xfrm>
          <a:prstGeom prst="rect">
            <a:avLst/>
          </a:prstGeom>
          <a:noFill/>
          <a:ln/>
        </p:spPr>
        <p:txBody>
          <a:bodyPr wrap="square" lIns="0" tIns="0" rIns="0" bIns="0" rtlCol="0" anchor="ctr"/>
          <a:lstStyle/>
          <a:p>
            <a:pPr marL="0" indent="0">
              <a:buNone/>
            </a:pPr>
            <a:r>
              <a:rPr lang="en-US" sz="1100" dirty="0">
                <a:solidFill>
                  <a:srgbClr val="EEF0FF"/>
                </a:solidFill>
                <a:latin typeface="Calibri" pitchFamily="34" charset="0"/>
                <a:ea typeface="Calibri" pitchFamily="34" charset="-122"/>
                <a:cs typeface="Calibri" pitchFamily="34" charset="-120"/>
              </a:rPr>
              <a:t>Integrate an AI assistant to help project managers auto-prioritise backlogs, suggest sprint assignments based on team velocity,</a:t>
            </a:r>
            <a:endParaRPr lang="en-US" sz="1100" dirty="0"/>
          </a:p>
          <a:p>
            <a:pPr marL="0" indent="0">
              <a:buNone/>
            </a:pPr>
            <a:r>
              <a:rPr lang="en-US" sz="1100" dirty="0">
                <a:solidFill>
                  <a:srgbClr val="EEF0FF"/>
                </a:solidFill>
                <a:latin typeface="Calibri" pitchFamily="34" charset="0"/>
                <a:ea typeface="Calibri" pitchFamily="34" charset="-122"/>
                <a:cs typeface="Calibri" pitchFamily="34" charset="-120"/>
              </a:rPr>
              <a:t>detect bottlenecks in real-time, and summarize stand-up updates automatically from issue history.</a:t>
            </a:r>
            <a:endParaRPr lang="en-US" sz="1100" dirty="0"/>
          </a:p>
        </p:txBody>
      </p:sp>
      <p:sp>
        <p:nvSpPr>
          <p:cNvPr id="10" name="Shape 8"/>
          <p:cNvSpPr/>
          <p:nvPr/>
        </p:nvSpPr>
        <p:spPr>
          <a:xfrm>
            <a:off x="160020" y="2644894"/>
            <a:ext cx="2834640" cy="1024128"/>
          </a:xfrm>
          <a:prstGeom prst="rect">
            <a:avLst/>
          </a:prstGeom>
          <a:solidFill>
            <a:srgbClr val="0E1020"/>
          </a:solidFill>
          <a:ln w="12700">
            <a:solidFill>
              <a:srgbClr val="5F80F9">
                <a:alpha val="4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1" name="Shape 9"/>
          <p:cNvSpPr/>
          <p:nvPr/>
        </p:nvSpPr>
        <p:spPr>
          <a:xfrm>
            <a:off x="269748" y="2919214"/>
            <a:ext cx="457200" cy="457200"/>
          </a:xfrm>
          <a:prstGeom prst="ellipse">
            <a:avLst/>
          </a:prstGeom>
          <a:solidFill>
            <a:srgbClr val="5F80F9">
              <a:alpha val="50000"/>
            </a:srgbClr>
          </a:solidFill>
          <a:ln w="12700">
            <a:solidFill>
              <a:srgbClr val="5F80F9">
                <a:alpha val="70000"/>
              </a:srgbClr>
            </a:solidFill>
            <a:prstDash val="solid"/>
          </a:ln>
        </p:spPr>
        <p:txBody>
          <a:bodyPr/>
          <a:lstStyle/>
          <a:p>
            <a:endParaRPr lang="en-US"/>
          </a:p>
        </p:txBody>
      </p:sp>
      <p:sp>
        <p:nvSpPr>
          <p:cNvPr id="12" name="Text 10"/>
          <p:cNvSpPr/>
          <p:nvPr/>
        </p:nvSpPr>
        <p:spPr>
          <a:xfrm>
            <a:off x="365760" y="2798064"/>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3" name="Text 11"/>
          <p:cNvSpPr/>
          <p:nvPr/>
        </p:nvSpPr>
        <p:spPr>
          <a:xfrm>
            <a:off x="818388" y="2772910"/>
            <a:ext cx="208483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Mobile App</a:t>
            </a:r>
            <a:endParaRPr lang="en-US" sz="1100" dirty="0"/>
          </a:p>
        </p:txBody>
      </p:sp>
      <p:sp>
        <p:nvSpPr>
          <p:cNvPr id="14" name="Text 12"/>
          <p:cNvSpPr/>
          <p:nvPr/>
        </p:nvSpPr>
        <p:spPr>
          <a:xfrm>
            <a:off x="818388" y="3083806"/>
            <a:ext cx="2084832" cy="512064"/>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React Native iOS &amp; Android client</a:t>
            </a:r>
            <a:endParaRPr lang="en-US" sz="1000" dirty="0"/>
          </a:p>
        </p:txBody>
      </p:sp>
      <p:sp>
        <p:nvSpPr>
          <p:cNvPr id="15" name="Shape 13"/>
          <p:cNvSpPr/>
          <p:nvPr/>
        </p:nvSpPr>
        <p:spPr>
          <a:xfrm>
            <a:off x="3154680" y="2644894"/>
            <a:ext cx="2834640" cy="1024128"/>
          </a:xfrm>
          <a:prstGeom prst="rect">
            <a:avLst/>
          </a:prstGeom>
          <a:solidFill>
            <a:srgbClr val="0E1020"/>
          </a:solidFill>
          <a:ln w="12700">
            <a:solidFill>
              <a:srgbClr val="19D9EF">
                <a:alpha val="4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16" name="Shape 14"/>
          <p:cNvSpPr/>
          <p:nvPr/>
        </p:nvSpPr>
        <p:spPr>
          <a:xfrm>
            <a:off x="3264408" y="2919214"/>
            <a:ext cx="457200" cy="457200"/>
          </a:xfrm>
          <a:prstGeom prst="ellipse">
            <a:avLst/>
          </a:prstGeom>
          <a:solidFill>
            <a:srgbClr val="19D9EF">
              <a:alpha val="50000"/>
            </a:srgbClr>
          </a:solidFill>
          <a:ln w="12700">
            <a:solidFill>
              <a:srgbClr val="19D9EF">
                <a:alpha val="70000"/>
              </a:srgbClr>
            </a:solidFill>
            <a:prstDash val="solid"/>
          </a:ln>
        </p:spPr>
        <p:txBody>
          <a:bodyPr/>
          <a:lstStyle/>
          <a:p>
            <a:endParaRPr lang="en-US"/>
          </a:p>
        </p:txBody>
      </p:sp>
      <p:sp>
        <p:nvSpPr>
          <p:cNvPr id="17" name="Text 15"/>
          <p:cNvSpPr/>
          <p:nvPr/>
        </p:nvSpPr>
        <p:spPr>
          <a:xfrm>
            <a:off x="3310128" y="2798064"/>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8" name="Text 16"/>
          <p:cNvSpPr/>
          <p:nvPr/>
        </p:nvSpPr>
        <p:spPr>
          <a:xfrm>
            <a:off x="3813048" y="2772910"/>
            <a:ext cx="208483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Real-Time Notifications</a:t>
            </a:r>
            <a:endParaRPr lang="en-US" sz="1100" dirty="0"/>
          </a:p>
        </p:txBody>
      </p:sp>
      <p:sp>
        <p:nvSpPr>
          <p:cNvPr id="19" name="Text 17"/>
          <p:cNvSpPr/>
          <p:nvPr/>
        </p:nvSpPr>
        <p:spPr>
          <a:xfrm>
            <a:off x="3813048" y="3083806"/>
            <a:ext cx="2084832" cy="512064"/>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WebSockets instead of polling</a:t>
            </a:r>
            <a:endParaRPr lang="en-US" sz="1000" dirty="0"/>
          </a:p>
        </p:txBody>
      </p:sp>
      <p:sp>
        <p:nvSpPr>
          <p:cNvPr id="20" name="Shape 18"/>
          <p:cNvSpPr/>
          <p:nvPr/>
        </p:nvSpPr>
        <p:spPr>
          <a:xfrm>
            <a:off x="6149340" y="2644894"/>
            <a:ext cx="2834640" cy="1024128"/>
          </a:xfrm>
          <a:prstGeom prst="rect">
            <a:avLst/>
          </a:prstGeom>
          <a:solidFill>
            <a:srgbClr val="0E1020"/>
          </a:solidFill>
          <a:ln w="12700">
            <a:solidFill>
              <a:srgbClr val="A78BFA">
                <a:alpha val="4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21" name="Shape 19"/>
          <p:cNvSpPr/>
          <p:nvPr/>
        </p:nvSpPr>
        <p:spPr>
          <a:xfrm>
            <a:off x="6259068" y="2919214"/>
            <a:ext cx="457200" cy="457200"/>
          </a:xfrm>
          <a:prstGeom prst="ellipse">
            <a:avLst/>
          </a:prstGeom>
          <a:solidFill>
            <a:srgbClr val="A78BFA">
              <a:alpha val="50000"/>
            </a:srgbClr>
          </a:solidFill>
          <a:ln w="12700">
            <a:solidFill>
              <a:srgbClr val="A78BFA">
                <a:alpha val="70000"/>
              </a:srgbClr>
            </a:solidFill>
            <a:prstDash val="solid"/>
          </a:ln>
        </p:spPr>
        <p:txBody>
          <a:bodyPr/>
          <a:lstStyle/>
          <a:p>
            <a:endParaRPr lang="en-US"/>
          </a:p>
        </p:txBody>
      </p:sp>
      <p:sp>
        <p:nvSpPr>
          <p:cNvPr id="22" name="Text 20"/>
          <p:cNvSpPr/>
          <p:nvPr/>
        </p:nvSpPr>
        <p:spPr>
          <a:xfrm>
            <a:off x="6254496" y="2798064"/>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3" name="Text 21"/>
          <p:cNvSpPr/>
          <p:nvPr/>
        </p:nvSpPr>
        <p:spPr>
          <a:xfrm>
            <a:off x="6807708" y="2772910"/>
            <a:ext cx="208483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Analytics Dashboard</a:t>
            </a:r>
            <a:endParaRPr lang="en-US" sz="1100" dirty="0"/>
          </a:p>
        </p:txBody>
      </p:sp>
      <p:sp>
        <p:nvSpPr>
          <p:cNvPr id="24" name="Text 22"/>
          <p:cNvSpPr/>
          <p:nvPr/>
        </p:nvSpPr>
        <p:spPr>
          <a:xfrm>
            <a:off x="6807708" y="3083806"/>
            <a:ext cx="2084832" cy="512064"/>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Velocity charts &amp; burndowns</a:t>
            </a:r>
            <a:endParaRPr lang="en-US" sz="1000" dirty="0"/>
          </a:p>
        </p:txBody>
      </p:sp>
      <p:sp>
        <p:nvSpPr>
          <p:cNvPr id="25" name="Shape 23"/>
          <p:cNvSpPr/>
          <p:nvPr/>
        </p:nvSpPr>
        <p:spPr>
          <a:xfrm>
            <a:off x="160020" y="3797022"/>
            <a:ext cx="2834640" cy="1024128"/>
          </a:xfrm>
          <a:prstGeom prst="rect">
            <a:avLst/>
          </a:prstGeom>
          <a:solidFill>
            <a:srgbClr val="0E1020"/>
          </a:solidFill>
          <a:ln w="12700">
            <a:solidFill>
              <a:srgbClr val="FACC15">
                <a:alpha val="4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26" name="Shape 24"/>
          <p:cNvSpPr/>
          <p:nvPr/>
        </p:nvSpPr>
        <p:spPr>
          <a:xfrm>
            <a:off x="269748" y="4071342"/>
            <a:ext cx="457200" cy="457200"/>
          </a:xfrm>
          <a:prstGeom prst="ellipse">
            <a:avLst/>
          </a:prstGeom>
          <a:solidFill>
            <a:srgbClr val="FACC15">
              <a:alpha val="50000"/>
            </a:srgbClr>
          </a:solidFill>
          <a:ln w="12700">
            <a:solidFill>
              <a:srgbClr val="FACC15">
                <a:alpha val="70000"/>
              </a:srgbClr>
            </a:solidFill>
            <a:prstDash val="solid"/>
          </a:ln>
        </p:spPr>
        <p:txBody>
          <a:bodyPr/>
          <a:lstStyle/>
          <a:p>
            <a:endParaRPr lang="en-US"/>
          </a:p>
        </p:txBody>
      </p:sp>
      <p:sp>
        <p:nvSpPr>
          <p:cNvPr id="27" name="Text 25"/>
          <p:cNvSpPr/>
          <p:nvPr/>
        </p:nvSpPr>
        <p:spPr>
          <a:xfrm>
            <a:off x="365760" y="3968496"/>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8" name="Text 26"/>
          <p:cNvSpPr/>
          <p:nvPr/>
        </p:nvSpPr>
        <p:spPr>
          <a:xfrm>
            <a:off x="818388" y="3925038"/>
            <a:ext cx="208483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Third-Party Integrations</a:t>
            </a:r>
            <a:endParaRPr lang="en-US" sz="1100" dirty="0"/>
          </a:p>
        </p:txBody>
      </p:sp>
      <p:sp>
        <p:nvSpPr>
          <p:cNvPr id="29" name="Text 27"/>
          <p:cNvSpPr/>
          <p:nvPr/>
        </p:nvSpPr>
        <p:spPr>
          <a:xfrm>
            <a:off x="818388" y="4235934"/>
            <a:ext cx="2084832" cy="512064"/>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GitHub, Slack, Google Calendar</a:t>
            </a:r>
            <a:endParaRPr lang="en-US" sz="1000" dirty="0"/>
          </a:p>
        </p:txBody>
      </p:sp>
      <p:sp>
        <p:nvSpPr>
          <p:cNvPr id="30" name="Shape 28"/>
          <p:cNvSpPr/>
          <p:nvPr/>
        </p:nvSpPr>
        <p:spPr>
          <a:xfrm>
            <a:off x="3154680" y="3797022"/>
            <a:ext cx="2834640" cy="1024128"/>
          </a:xfrm>
          <a:prstGeom prst="rect">
            <a:avLst/>
          </a:prstGeom>
          <a:solidFill>
            <a:srgbClr val="0E1020"/>
          </a:solidFill>
          <a:ln w="12700">
            <a:solidFill>
              <a:srgbClr val="4ADE80">
                <a:alpha val="4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31" name="Shape 29"/>
          <p:cNvSpPr/>
          <p:nvPr/>
        </p:nvSpPr>
        <p:spPr>
          <a:xfrm>
            <a:off x="3264408" y="4071342"/>
            <a:ext cx="457200" cy="457200"/>
          </a:xfrm>
          <a:prstGeom prst="ellipse">
            <a:avLst/>
          </a:prstGeom>
          <a:solidFill>
            <a:srgbClr val="4ADE80">
              <a:alpha val="50000"/>
            </a:srgbClr>
          </a:solidFill>
          <a:ln w="12700">
            <a:solidFill>
              <a:srgbClr val="4ADE80">
                <a:alpha val="70000"/>
              </a:srgbClr>
            </a:solidFill>
            <a:prstDash val="solid"/>
          </a:ln>
        </p:spPr>
        <p:txBody>
          <a:bodyPr/>
          <a:lstStyle/>
          <a:p>
            <a:endParaRPr lang="en-US"/>
          </a:p>
        </p:txBody>
      </p:sp>
      <p:sp>
        <p:nvSpPr>
          <p:cNvPr id="32" name="Text 30"/>
          <p:cNvSpPr/>
          <p:nvPr/>
        </p:nvSpPr>
        <p:spPr>
          <a:xfrm>
            <a:off x="3310128" y="3968496"/>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33" name="Text 31"/>
          <p:cNvSpPr/>
          <p:nvPr/>
        </p:nvSpPr>
        <p:spPr>
          <a:xfrm>
            <a:off x="3813048" y="3925038"/>
            <a:ext cx="208483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Multi-Language Support</a:t>
            </a:r>
            <a:endParaRPr lang="en-US" sz="1100" dirty="0"/>
          </a:p>
        </p:txBody>
      </p:sp>
      <p:sp>
        <p:nvSpPr>
          <p:cNvPr id="34" name="Text 32"/>
          <p:cNvSpPr/>
          <p:nvPr/>
        </p:nvSpPr>
        <p:spPr>
          <a:xfrm>
            <a:off x="3813048" y="4235934"/>
            <a:ext cx="2084832" cy="512064"/>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i18n for global distributed teams</a:t>
            </a:r>
            <a:endParaRPr lang="en-US" sz="1000" dirty="0"/>
          </a:p>
        </p:txBody>
      </p:sp>
      <p:sp>
        <p:nvSpPr>
          <p:cNvPr id="35" name="Shape 33"/>
          <p:cNvSpPr/>
          <p:nvPr/>
        </p:nvSpPr>
        <p:spPr>
          <a:xfrm>
            <a:off x="6149340" y="3797022"/>
            <a:ext cx="2834640" cy="1024128"/>
          </a:xfrm>
          <a:prstGeom prst="rect">
            <a:avLst/>
          </a:prstGeom>
          <a:solidFill>
            <a:srgbClr val="0E1020"/>
          </a:solidFill>
          <a:ln w="12700">
            <a:solidFill>
              <a:srgbClr val="FB923C">
                <a:alpha val="40000"/>
              </a:srgbClr>
            </a:solidFill>
            <a:prstDash val="solid"/>
          </a:ln>
          <a:effectLst>
            <a:outerShdw blurRad="127000" dist="38100" dir="8100000" algn="bl" rotWithShape="0">
              <a:srgbClr val="000000">
                <a:alpha val="28000"/>
              </a:srgbClr>
            </a:outerShdw>
          </a:effectLst>
        </p:spPr>
        <p:txBody>
          <a:bodyPr/>
          <a:lstStyle/>
          <a:p>
            <a:endParaRPr lang="en-US"/>
          </a:p>
        </p:txBody>
      </p:sp>
      <p:sp>
        <p:nvSpPr>
          <p:cNvPr id="36" name="Shape 34"/>
          <p:cNvSpPr/>
          <p:nvPr/>
        </p:nvSpPr>
        <p:spPr>
          <a:xfrm>
            <a:off x="6259068" y="4071342"/>
            <a:ext cx="457200" cy="457200"/>
          </a:xfrm>
          <a:prstGeom prst="ellipse">
            <a:avLst/>
          </a:prstGeom>
          <a:solidFill>
            <a:srgbClr val="FB923C">
              <a:alpha val="50000"/>
            </a:srgbClr>
          </a:solidFill>
          <a:ln w="12700">
            <a:solidFill>
              <a:srgbClr val="FB923C">
                <a:alpha val="70000"/>
              </a:srgbClr>
            </a:solidFill>
            <a:prstDash val="solid"/>
          </a:ln>
        </p:spPr>
        <p:txBody>
          <a:bodyPr/>
          <a:lstStyle/>
          <a:p>
            <a:endParaRPr lang="en-US"/>
          </a:p>
        </p:txBody>
      </p:sp>
      <p:sp>
        <p:nvSpPr>
          <p:cNvPr id="37" name="Text 35"/>
          <p:cNvSpPr/>
          <p:nvPr/>
        </p:nvSpPr>
        <p:spPr>
          <a:xfrm>
            <a:off x="6254496" y="3968496"/>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38" name="Text 36"/>
          <p:cNvSpPr/>
          <p:nvPr/>
        </p:nvSpPr>
        <p:spPr>
          <a:xfrm>
            <a:off x="6807708" y="3925038"/>
            <a:ext cx="2084832"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AWS Cloud Deployment</a:t>
            </a:r>
            <a:endParaRPr lang="en-US" sz="1100" dirty="0"/>
          </a:p>
        </p:txBody>
      </p:sp>
      <p:sp>
        <p:nvSpPr>
          <p:cNvPr id="39" name="Text 37"/>
          <p:cNvSpPr/>
          <p:nvPr/>
        </p:nvSpPr>
        <p:spPr>
          <a:xfrm>
            <a:off x="6807708" y="4235934"/>
            <a:ext cx="2084832" cy="512064"/>
          </a:xfrm>
          <a:prstGeom prst="rect">
            <a:avLst/>
          </a:prstGeom>
          <a:noFill/>
          <a:ln/>
        </p:spPr>
        <p:txBody>
          <a:bodyPr wrap="square" lIns="0" tIns="0" rIns="0" bIns="0" rtlCol="0" anchor="ctr"/>
          <a:lstStyle/>
          <a:p>
            <a:pPr marL="0" indent="0">
              <a:buNone/>
            </a:pPr>
            <a:r>
              <a:rPr lang="en-US" sz="1000" dirty="0">
                <a:solidFill>
                  <a:srgbClr val="8892C8"/>
                </a:solidFill>
                <a:latin typeface="Calibri" pitchFamily="34" charset="0"/>
                <a:ea typeface="Calibri" pitchFamily="34" charset="-122"/>
                <a:cs typeface="Calibri" pitchFamily="34" charset="-120"/>
              </a:rPr>
              <a:t>ECS + RDS + SSM Parameter Store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80F"/>
        </a:solidFill>
        <a:effectLst/>
      </p:bgPr>
    </p:bg>
    <p:spTree>
      <p:nvGrpSpPr>
        <p:cNvPr id="1" name=""/>
        <p:cNvGrpSpPr/>
        <p:nvPr/>
      </p:nvGrpSpPr>
      <p:grpSpPr>
        <a:xfrm>
          <a:off x="0" y="0"/>
          <a:ext cx="0" cy="0"/>
          <a:chOff x="0" y="0"/>
          <a:chExt cx="0" cy="0"/>
        </a:xfrm>
      </p:grpSpPr>
      <p:sp>
        <p:nvSpPr>
          <p:cNvPr id="2" name="Shape 0"/>
          <p:cNvSpPr/>
          <p:nvPr/>
        </p:nvSpPr>
        <p:spPr>
          <a:xfrm>
            <a:off x="0" y="0"/>
            <a:ext cx="4114800" cy="4114800"/>
          </a:xfrm>
          <a:prstGeom prst="ellipse">
            <a:avLst/>
          </a:prstGeom>
          <a:solidFill>
            <a:srgbClr val="5F80F9">
              <a:alpha val="8000"/>
            </a:srgbClr>
          </a:solidFill>
          <a:ln w="12700">
            <a:solidFill>
              <a:srgbClr val="5F80F9">
                <a:alpha val="8000"/>
              </a:srgbClr>
            </a:solidFill>
            <a:prstDash val="solid"/>
          </a:ln>
        </p:spPr>
        <p:txBody>
          <a:bodyPr/>
          <a:lstStyle/>
          <a:p>
            <a:endParaRPr lang="en-US"/>
          </a:p>
        </p:txBody>
      </p:sp>
      <p:sp>
        <p:nvSpPr>
          <p:cNvPr id="3" name="Shape 1"/>
          <p:cNvSpPr/>
          <p:nvPr/>
        </p:nvSpPr>
        <p:spPr>
          <a:xfrm>
            <a:off x="5486400" y="1485900"/>
            <a:ext cx="3657600" cy="3657600"/>
          </a:xfrm>
          <a:prstGeom prst="ellipse">
            <a:avLst/>
          </a:prstGeom>
          <a:solidFill>
            <a:srgbClr val="19D9EF">
              <a:alpha val="8000"/>
            </a:srgbClr>
          </a:solidFill>
          <a:ln w="12700">
            <a:solidFill>
              <a:srgbClr val="19D9EF">
                <a:alpha val="8000"/>
              </a:srgbClr>
            </a:solidFill>
            <a:prstDash val="solid"/>
          </a:ln>
        </p:spPr>
        <p:txBody>
          <a:bodyPr/>
          <a:lstStyle/>
          <a:p>
            <a:endParaRPr lang="en-US"/>
          </a:p>
        </p:txBody>
      </p:sp>
      <p:sp>
        <p:nvSpPr>
          <p:cNvPr id="4" name="Text 2"/>
          <p:cNvSpPr/>
          <p:nvPr/>
        </p:nvSpPr>
        <p:spPr>
          <a:xfrm>
            <a:off x="457200" y="822960"/>
            <a:ext cx="8229600" cy="1371600"/>
          </a:xfrm>
          <a:prstGeom prst="rect">
            <a:avLst/>
          </a:prstGeom>
          <a:noFill/>
          <a:ln/>
        </p:spPr>
        <p:txBody>
          <a:bodyPr wrap="square" lIns="0" tIns="0" rIns="0" bIns="0" rtlCol="0" anchor="ctr"/>
          <a:lstStyle/>
          <a:p>
            <a:pPr marL="0" indent="0" algn="ctr">
              <a:buNone/>
            </a:pPr>
            <a:r>
              <a:rPr lang="en-US" sz="6800" b="1" kern="0" spc="200"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Shape 3"/>
          <p:cNvSpPr/>
          <p:nvPr/>
        </p:nvSpPr>
        <p:spPr>
          <a:xfrm>
            <a:off x="2560320" y="2331720"/>
            <a:ext cx="4023360" cy="36576"/>
          </a:xfrm>
          <a:prstGeom prst="rect">
            <a:avLst/>
          </a:prstGeom>
          <a:solidFill>
            <a:srgbClr val="19D9EF"/>
          </a:solidFill>
          <a:ln w="12700">
            <a:solidFill>
              <a:srgbClr val="19D9EF"/>
            </a:solidFill>
            <a:prstDash val="solid"/>
          </a:ln>
        </p:spPr>
        <p:txBody>
          <a:bodyPr/>
          <a:lstStyle/>
          <a:p>
            <a:endParaRPr lang="en-US"/>
          </a:p>
        </p:txBody>
      </p:sp>
      <p:sp>
        <p:nvSpPr>
          <p:cNvPr id="6" name="Text 4"/>
          <p:cNvSpPr/>
          <p:nvPr/>
        </p:nvSpPr>
        <p:spPr>
          <a:xfrm>
            <a:off x="457200" y="2514600"/>
            <a:ext cx="8229600" cy="347472"/>
          </a:xfrm>
          <a:prstGeom prst="rect">
            <a:avLst/>
          </a:prstGeom>
          <a:noFill/>
          <a:ln/>
        </p:spPr>
        <p:txBody>
          <a:bodyPr wrap="square" lIns="0" tIns="0" rIns="0" bIns="0" rtlCol="0" anchor="ctr"/>
          <a:lstStyle/>
          <a:p>
            <a:pPr marL="0" indent="0" algn="ctr">
              <a:buNone/>
            </a:pPr>
            <a:r>
              <a:rPr lang="en-US" sz="1200" dirty="0">
                <a:solidFill>
                  <a:srgbClr val="8892C8"/>
                </a:solidFill>
                <a:latin typeface="Calibri" pitchFamily="34" charset="0"/>
                <a:ea typeface="Calibri" pitchFamily="34" charset="-122"/>
                <a:cs typeface="Calibri" pitchFamily="34" charset="-120"/>
              </a:rPr>
              <a:t>Cairo — Capstone Project  ·  Maria Aguilar  ·  UCI 2123  ·  2026</a:t>
            </a:r>
            <a:endParaRPr lang="en-US" sz="1200" dirty="0"/>
          </a:p>
        </p:txBody>
      </p:sp>
      <p:sp>
        <p:nvSpPr>
          <p:cNvPr id="7" name="Shape 5"/>
          <p:cNvSpPr/>
          <p:nvPr/>
        </p:nvSpPr>
        <p:spPr>
          <a:xfrm>
            <a:off x="731520" y="3063240"/>
            <a:ext cx="2377440" cy="457200"/>
          </a:xfrm>
          <a:prstGeom prst="roundRect">
            <a:avLst>
              <a:gd name="adj" fmla="val 20000"/>
            </a:avLst>
          </a:prstGeom>
          <a:solidFill>
            <a:srgbClr val="0E1020"/>
          </a:solidFill>
          <a:ln w="12700">
            <a:solidFill>
              <a:srgbClr val="5F80F9">
                <a:alpha val="55000"/>
              </a:srgbClr>
            </a:solidFill>
            <a:prstDash val="solid"/>
          </a:ln>
        </p:spPr>
        <p:txBody>
          <a:bodyPr/>
          <a:lstStyle/>
          <a:p>
            <a:endParaRPr lang="en-US"/>
          </a:p>
        </p:txBody>
      </p:sp>
      <p:sp>
        <p:nvSpPr>
          <p:cNvPr id="8" name="Text 6"/>
          <p:cNvSpPr/>
          <p:nvPr/>
        </p:nvSpPr>
        <p:spPr>
          <a:xfrm>
            <a:off x="731520" y="3063240"/>
            <a:ext cx="2377440" cy="457200"/>
          </a:xfrm>
          <a:prstGeom prst="rect">
            <a:avLst/>
          </a:prstGeom>
          <a:noFill/>
          <a:ln/>
        </p:spPr>
        <p:txBody>
          <a:bodyPr wrap="square" lIns="0" tIns="0" rIns="0" bIns="0" rtlCol="0" anchor="ctr"/>
          <a:lstStyle/>
          <a:p>
            <a:pPr marL="0" indent="0" algn="ctr">
              <a:buNone/>
            </a:pPr>
            <a:r>
              <a:rPr lang="en-US" sz="1100" dirty="0">
                <a:solidFill>
                  <a:srgbClr val="19D9EF"/>
                </a:solidFill>
                <a:latin typeface="Calibri" pitchFamily="34" charset="0"/>
                <a:ea typeface="Calibri" pitchFamily="34" charset="-122"/>
                <a:cs typeface="Calibri" pitchFamily="34" charset="-120"/>
              </a:rPr>
              <a:t>🔗  github.com/Mariaa97-rodri</a:t>
            </a:r>
            <a:endParaRPr lang="en-US" sz="1100" dirty="0"/>
          </a:p>
        </p:txBody>
      </p:sp>
      <p:sp>
        <p:nvSpPr>
          <p:cNvPr id="9" name="Shape 7"/>
          <p:cNvSpPr/>
          <p:nvPr/>
        </p:nvSpPr>
        <p:spPr>
          <a:xfrm>
            <a:off x="3364992" y="3063240"/>
            <a:ext cx="2377440" cy="457200"/>
          </a:xfrm>
          <a:prstGeom prst="roundRect">
            <a:avLst>
              <a:gd name="adj" fmla="val 20000"/>
            </a:avLst>
          </a:prstGeom>
          <a:solidFill>
            <a:srgbClr val="0E1020"/>
          </a:solidFill>
          <a:ln w="12700">
            <a:solidFill>
              <a:srgbClr val="5F80F9">
                <a:alpha val="55000"/>
              </a:srgbClr>
            </a:solidFill>
            <a:prstDash val="solid"/>
          </a:ln>
        </p:spPr>
        <p:txBody>
          <a:bodyPr/>
          <a:lstStyle/>
          <a:p>
            <a:endParaRPr lang="en-US"/>
          </a:p>
        </p:txBody>
      </p:sp>
      <p:sp>
        <p:nvSpPr>
          <p:cNvPr id="10" name="Text 8"/>
          <p:cNvSpPr/>
          <p:nvPr/>
        </p:nvSpPr>
        <p:spPr>
          <a:xfrm>
            <a:off x="3364992" y="3063240"/>
            <a:ext cx="2377440" cy="457200"/>
          </a:xfrm>
          <a:prstGeom prst="rect">
            <a:avLst/>
          </a:prstGeom>
          <a:noFill/>
          <a:ln/>
        </p:spPr>
        <p:txBody>
          <a:bodyPr wrap="square" lIns="0" tIns="0" rIns="0" bIns="0" rtlCol="0" anchor="ctr"/>
          <a:lstStyle/>
          <a:p>
            <a:pPr marL="0" indent="0" algn="ctr">
              <a:buNone/>
            </a:pPr>
            <a:r>
              <a:rPr lang="en-US" sz="1100" dirty="0">
                <a:solidFill>
                  <a:srgbClr val="19D9EF"/>
                </a:solidFill>
                <a:latin typeface="Calibri" pitchFamily="34" charset="0"/>
                <a:ea typeface="Calibri" pitchFamily="34" charset="-122"/>
                <a:cs typeface="Calibri" pitchFamily="34" charset="-120"/>
              </a:rPr>
              <a:t>🌐  localhost:5173</a:t>
            </a:r>
            <a:endParaRPr lang="en-US" sz="1100" dirty="0"/>
          </a:p>
        </p:txBody>
      </p:sp>
      <p:sp>
        <p:nvSpPr>
          <p:cNvPr id="11" name="Shape 9"/>
          <p:cNvSpPr/>
          <p:nvPr/>
        </p:nvSpPr>
        <p:spPr>
          <a:xfrm>
            <a:off x="5998464" y="3063240"/>
            <a:ext cx="2377440" cy="457200"/>
          </a:xfrm>
          <a:prstGeom prst="roundRect">
            <a:avLst>
              <a:gd name="adj" fmla="val 20000"/>
            </a:avLst>
          </a:prstGeom>
          <a:solidFill>
            <a:srgbClr val="0E1020"/>
          </a:solidFill>
          <a:ln w="12700">
            <a:solidFill>
              <a:srgbClr val="5F80F9">
                <a:alpha val="55000"/>
              </a:srgbClr>
            </a:solidFill>
            <a:prstDash val="solid"/>
          </a:ln>
        </p:spPr>
        <p:txBody>
          <a:bodyPr/>
          <a:lstStyle/>
          <a:p>
            <a:endParaRPr lang="en-US"/>
          </a:p>
        </p:txBody>
      </p:sp>
      <p:sp>
        <p:nvSpPr>
          <p:cNvPr id="12" name="Text 10"/>
          <p:cNvSpPr/>
          <p:nvPr/>
        </p:nvSpPr>
        <p:spPr>
          <a:xfrm>
            <a:off x="5998464" y="3063240"/>
            <a:ext cx="2377440" cy="457200"/>
          </a:xfrm>
          <a:prstGeom prst="rect">
            <a:avLst/>
          </a:prstGeom>
          <a:noFill/>
          <a:ln/>
        </p:spPr>
        <p:txBody>
          <a:bodyPr wrap="square" lIns="0" tIns="0" rIns="0" bIns="0" rtlCol="0" anchor="ctr"/>
          <a:lstStyle/>
          <a:p>
            <a:pPr marL="0" indent="0" algn="ctr">
              <a:buNone/>
            </a:pPr>
            <a:r>
              <a:rPr lang="en-US" sz="1100" dirty="0">
                <a:solidFill>
                  <a:srgbClr val="19D9EF"/>
                </a:solidFill>
                <a:latin typeface="Calibri" pitchFamily="34" charset="0"/>
                <a:ea typeface="Calibri" pitchFamily="34" charset="-122"/>
                <a:cs typeface="Calibri" pitchFamily="34" charset="-120"/>
              </a:rPr>
              <a:t>📧  admin@cairo.com</a:t>
            </a:r>
            <a:endParaRPr lang="en-US" sz="1100" dirty="0"/>
          </a:p>
        </p:txBody>
      </p:sp>
      <p:sp>
        <p:nvSpPr>
          <p:cNvPr id="13" name="Text 11"/>
          <p:cNvSpPr/>
          <p:nvPr/>
        </p:nvSpPr>
        <p:spPr>
          <a:xfrm>
            <a:off x="457200" y="3767328"/>
            <a:ext cx="82296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Calibri" pitchFamily="34" charset="0"/>
                <a:ea typeface="Calibri" pitchFamily="34" charset="-122"/>
                <a:cs typeface="Calibri" pitchFamily="34" charset="-120"/>
              </a:rPr>
              <a:t>Thank you for your time!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616</TotalTime>
  <Words>2996</Words>
  <Application>Microsoft Office PowerPoint</Application>
  <PresentationFormat>On-screen Show (16:9)</PresentationFormat>
  <Paragraphs>298</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Cairo — Project Management Application</dc:title>
  <dc:subject>PptxGenJS Presentation</dc:subject>
  <dc:creator>Maria Aguilar</dc:creator>
  <cp:lastModifiedBy>Rodriguez, Maria W.</cp:lastModifiedBy>
  <cp:revision>3</cp:revision>
  <dcterms:created xsi:type="dcterms:W3CDTF">2026-04-26T13:12:59Z</dcterms:created>
  <dcterms:modified xsi:type="dcterms:W3CDTF">2026-04-26T23:40:04Z</dcterms:modified>
</cp:coreProperties>
</file>