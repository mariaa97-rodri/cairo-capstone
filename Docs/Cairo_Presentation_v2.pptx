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9831" autoAdjust="0"/>
  </p:normalViewPr>
  <p:slideViewPr>
    <p:cSldViewPr snapToGrid="0" snapToObjects="1">
      <p:cViewPr varScale="1">
        <p:scale>
          <a:sx n="77" d="100"/>
          <a:sy n="77" d="100"/>
        </p:scale>
        <p:origin x="160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77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0D1A"/>
          </a:solidFill>
          <a:ln w="12700">
            <a:solidFill>
              <a:srgbClr val="0B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2400300"/>
            <a:ext cx="2743200" cy="2743200"/>
          </a:xfrm>
          <a:prstGeom prst="ellipse">
            <a:avLst/>
          </a:prstGeom>
          <a:solidFill>
            <a:srgbClr val="19D9EF">
              <a:alpha val="8000"/>
            </a:srgbClr>
          </a:solidFill>
          <a:ln w="12700">
            <a:solidFill>
              <a:srgbClr val="19D9E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3657600" cy="3657600"/>
          </a:xfrm>
          <a:prstGeom prst="ellipse">
            <a:avLst/>
          </a:prstGeom>
          <a:solidFill>
            <a:srgbClr val="5F80F9">
              <a:alpha val="10000"/>
            </a:srgbClr>
          </a:solidFill>
          <a:ln w="12700">
            <a:solidFill>
              <a:srgbClr val="5F80F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529D0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D9EF"/>
                </a:solidFill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84048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200400"/>
            <a:ext cx="2743200" cy="27432"/>
          </a:xfrm>
          <a:prstGeom prst="rect">
            <a:avLst/>
          </a:prstGeom>
          <a:solidFill>
            <a:srgbClr val="5F80F9">
              <a:alpha val="60000"/>
            </a:srgbClr>
          </a:solidFill>
          <a:ln w="12700">
            <a:solidFill>
              <a:srgbClr val="5F80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337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Aguilar  ·  UCI 2123: Systems Engineering with AWS  ·  Capstone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4206240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0E1020"/>
          </a:solidFill>
          <a:ln w="12700">
            <a:solidFill>
              <a:srgbClr val="5F80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420624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8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25296" y="4206240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0E1020"/>
          </a:solidFill>
          <a:ln w="12700">
            <a:solidFill>
              <a:srgbClr val="19D9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25296" y="420624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66544" y="4206240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0E1020"/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66544" y="420624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07792" y="4206240"/>
            <a:ext cx="768096" cy="310896"/>
          </a:xfrm>
          <a:prstGeom prst="roundRect">
            <a:avLst>
              <a:gd name="adj" fmla="val 20588"/>
            </a:avLst>
          </a:prstGeom>
          <a:solidFill>
            <a:srgbClr val="0E1020"/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07792" y="420624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365760"/>
            <a:ext cx="4937760" cy="259689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931920" y="3154680"/>
            <a:ext cx="4937760" cy="1645920"/>
          </a:xfrm>
          <a:prstGeom prst="rect">
            <a:avLst/>
          </a:prstGeom>
          <a:solidFill>
            <a:srgbClr val="0E1020"/>
          </a:solidFill>
          <a:ln w="12700">
            <a:solidFill>
              <a:srgbClr val="3529D0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931920" y="3154680"/>
            <a:ext cx="54864" cy="1645920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041648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Fun Fact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41648" y="3547872"/>
            <a:ext cx="4663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</a:t>
            </a: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named after my son — it means </a:t>
            </a:r>
            <a:r>
              <a:rPr lang="en-US" sz="11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Victorious"</a:t>
            </a: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Arabic.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 </a:t>
            </a: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"Jira" is short for </a:t>
            </a:r>
            <a:r>
              <a:rPr lang="en-US" sz="11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Gojira</a:t>
            </a: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Japanese name for Godzilla!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0A0B1A"/>
          </a:solidFill>
          <a:ln w="12700">
            <a:solidFill>
              <a:srgbClr val="0A0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struggle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 like Jira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627632"/>
            <a:ext cx="3566160" cy="1371600"/>
          </a:xfrm>
          <a:prstGeom prst="rect">
            <a:avLst/>
          </a:prstGeom>
          <a:solidFill>
            <a:srgbClr val="1A0A0F"/>
          </a:solidFill>
          <a:ln w="12700">
            <a:solidFill>
              <a:srgbClr val="F43F5E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824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$8–$15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/ month just to manage your own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1455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setup takes days — not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584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36210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sits on vendor servers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40599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pay for features they never 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462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4498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lightweight self-hosted option exists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84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69494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gives teams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754880" y="1627632"/>
            <a:ext cx="4023360" cy="1371600"/>
          </a:xfrm>
          <a:prstGeom prst="rect">
            <a:avLst/>
          </a:prstGeom>
          <a:solidFill>
            <a:srgbClr val="0A1A0F"/>
          </a:solidFill>
          <a:ln w="12700">
            <a:solidFill>
              <a:srgbClr val="4ADE80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6824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/ month — forever. Self-hosted, yours to own.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14553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31821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self-hosted — zero per-seat licensing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584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12080" y="36210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locally in minutes, README included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40599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 your own infrastructure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462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4498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codebase — extend it for your needs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33088" y="2286000"/>
            <a:ext cx="512064" cy="512064"/>
          </a:xfrm>
          <a:prstGeom prst="ellipse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51376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full-stack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657600"/>
          </a:xfrm>
          <a:prstGeom prst="rect">
            <a:avLst/>
          </a:prstGeom>
          <a:solidFill>
            <a:srgbClr val="0E1020"/>
          </a:solidFill>
          <a:ln w="12700">
            <a:solidFill>
              <a:srgbClr val="1D4ED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502920"/>
          </a:xfrm>
          <a:prstGeom prst="rect">
            <a:avLst/>
          </a:prstGeom>
          <a:solidFill>
            <a:srgbClr val="1D4ED8">
              <a:alpha val="80000"/>
            </a:srgbClr>
          </a:solidFill>
          <a:ln w="12700">
            <a:solidFill>
              <a:srgbClr val="1D4E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773936"/>
            <a:ext cx="2523744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(10 routes)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client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storage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 + useReducer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+ Syne font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PrismaticBurst animation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657600"/>
          </a:xfrm>
          <a:prstGeom prst="rect">
            <a:avLst/>
          </a:prstGeom>
          <a:solidFill>
            <a:srgbClr val="0E1020"/>
          </a:solidFill>
          <a:ln w="12700">
            <a:solidFill>
              <a:srgbClr val="065F4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065F46">
              <a:alpha val="80000"/>
            </a:srgbClr>
          </a:solidFill>
          <a:ln w="12700">
            <a:solidFill>
              <a:srgbClr val="065F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1773936"/>
            <a:ext cx="2523744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REST Controllers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DTO layer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2743200" cy="3657600"/>
          </a:xfrm>
          <a:prstGeom prst="rect">
            <a:avLst/>
          </a:prstGeom>
          <a:solidFill>
            <a:srgbClr val="0E1020"/>
          </a:solidFill>
          <a:ln w="12700">
            <a:solidFill>
              <a:srgbClr val="7C2D12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63640" y="1188720"/>
            <a:ext cx="2743200" cy="502920"/>
          </a:xfrm>
          <a:prstGeom prst="rect">
            <a:avLst/>
          </a:prstGeom>
          <a:solidFill>
            <a:srgbClr val="7C2D12">
              <a:alpha val="80000"/>
            </a:srgbClr>
          </a:solidFill>
          <a:ln w="12700">
            <a:solidFill>
              <a:srgbClr val="7C2D1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1773936"/>
            <a:ext cx="2523744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relational tables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 + indexes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types for 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rules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audit history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included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80944" y="285941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88736" y="275149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SQL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relational tables — MySQL 8  ·  Designed with DrawSQL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8686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user stories — all completed ✓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54864" cy="841248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79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1170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Issue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3 pts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54864" cy="841248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179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79008" y="1170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Issue Status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2 pts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44768" y="111556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44768" y="1115568"/>
            <a:ext cx="54864" cy="841248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36208" y="1179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23376" y="1170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Issues to Members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2 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07568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075688"/>
            <a:ext cx="54864" cy="841248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" y="2350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Issues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2679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3 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07568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075688"/>
            <a:ext cx="54864" cy="841248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79008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350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679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· 5 pts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207568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44768" y="2075688"/>
            <a:ext cx="54864" cy="841248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36208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723376" y="2130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36208" y="23500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&amp; Add Members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2679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· 5 pts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03580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" y="3035808"/>
            <a:ext cx="54864" cy="841248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30998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47472" y="3310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Sprints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7472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· 8 pts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0" y="303580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00400" y="3035808"/>
            <a:ext cx="54864" cy="841248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91840" y="30998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79008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291840" y="3310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Kanban Board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91840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· 8 pts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44768" y="303580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44768" y="3035808"/>
            <a:ext cx="54864" cy="841248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236208" y="30998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23376" y="3090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36208" y="33101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Issues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36208" y="3639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· 3 pts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56032" y="399592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56032" y="3995928"/>
            <a:ext cx="54864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7472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834640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47472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7472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5 pts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0" y="399592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200400" y="3995928"/>
            <a:ext cx="54864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91840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779008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291840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USER/ADMIN Roles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91840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3 pts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144768" y="3995928"/>
            <a:ext cx="2834640" cy="841248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144768" y="3995928"/>
            <a:ext cx="54864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236208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723376" y="4050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236208" y="4270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Members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236208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2 pts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60818"/>
          </a:solidFill>
          <a:ln w="12700">
            <a:solidFill>
              <a:srgbClr val="060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182880"/>
            <a:ext cx="3657600" cy="3657600"/>
          </a:xfrm>
          <a:prstGeom prst="ellipse">
            <a:avLst/>
          </a:prstGeom>
          <a:solidFill>
            <a:srgbClr val="5F80F9">
              <a:alpha val="12000"/>
            </a:srgbClr>
          </a:solidFill>
          <a:ln w="12700">
            <a:solidFill>
              <a:srgbClr val="5F80F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2286000"/>
            <a:ext cx="2286000" cy="2286000"/>
          </a:xfrm>
          <a:prstGeom prst="ellipse">
            <a:avLst/>
          </a:prstGeom>
          <a:solidFill>
            <a:srgbClr val="19D9EF">
              <a:alpha val="10000"/>
            </a:srgbClr>
          </a:solidFill>
          <a:ln w="12700">
            <a:solidFill>
              <a:srgbClr val="19D9E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0" y="658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3035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76672" y="2304288"/>
            <a:ext cx="1627632" cy="640080"/>
          </a:xfrm>
          <a:prstGeom prst="roundRect">
            <a:avLst>
              <a:gd name="adj" fmla="val 14286"/>
            </a:avLst>
          </a:prstGeom>
          <a:solidFill>
            <a:srgbClr val="0E1020"/>
          </a:solidFill>
          <a:ln w="12700">
            <a:solidFill>
              <a:srgbClr val="5F80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76672" y="2304288"/>
            <a:ext cx="16276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8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8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14032" y="2304288"/>
            <a:ext cx="1627632" cy="640080"/>
          </a:xfrm>
          <a:prstGeom prst="roundRect">
            <a:avLst>
              <a:gd name="adj" fmla="val 14286"/>
            </a:avLst>
          </a:prstGeom>
          <a:solidFill>
            <a:srgbClr val="0E1020"/>
          </a:solidFill>
          <a:ln w="12700">
            <a:solidFill>
              <a:srgbClr val="19D9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14032" y="2304288"/>
            <a:ext cx="1627632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76672" y="3090672"/>
            <a:ext cx="3401568" cy="384048"/>
          </a:xfrm>
          <a:prstGeom prst="roundRect">
            <a:avLst>
              <a:gd name="adj" fmla="val 19048"/>
            </a:avLst>
          </a:prstGeom>
          <a:solidFill>
            <a:srgbClr val="3529D0">
              <a:alpha val="40000"/>
            </a:srgbClr>
          </a:solidFill>
          <a:ln w="12700">
            <a:solidFill>
              <a:srgbClr val="3529D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76672" y="309067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README.md has full setup 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74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" y="786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sequence during the live demo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1225296"/>
            <a:ext cx="402336" cy="402336"/>
          </a:xfrm>
          <a:prstGeom prst="ellipse">
            <a:avLst/>
          </a:prstGeom>
          <a:solidFill>
            <a:srgbClr val="3529D0"/>
          </a:solidFill>
          <a:ln w="12700">
            <a:solidFill>
              <a:srgbClr val="5F80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12252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Login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1444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issued, role set to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1627632"/>
            <a:ext cx="27432" cy="237744"/>
          </a:xfrm>
          <a:prstGeom prst="rect">
            <a:avLst/>
          </a:prstGeom>
          <a:solidFill>
            <a:srgbClr val="454D7A">
              <a:alpha val="60000"/>
            </a:srgbClr>
          </a:solidFill>
          <a:ln w="12700">
            <a:solidFill>
              <a:srgbClr val="454D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1883664"/>
            <a:ext cx="402336" cy="402336"/>
          </a:xfrm>
          <a:prstGeom prst="ellipse">
            <a:avLst/>
          </a:prstGeom>
          <a:solidFill>
            <a:srgbClr val="3529D0"/>
          </a:solidFill>
          <a:ln w="12700">
            <a:solidFill>
              <a:srgbClr val="5F80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1883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2103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 members from the user 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" y="2286000"/>
            <a:ext cx="27432" cy="237744"/>
          </a:xfrm>
          <a:prstGeom prst="rect">
            <a:avLst/>
          </a:prstGeom>
          <a:solidFill>
            <a:srgbClr val="454D7A">
              <a:alpha val="60000"/>
            </a:srgbClr>
          </a:solidFill>
          <a:ln w="12700">
            <a:solidFill>
              <a:srgbClr val="454D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2542032"/>
            <a:ext cx="402336" cy="402336"/>
          </a:xfrm>
          <a:prstGeom prst="ellipse">
            <a:avLst/>
          </a:prstGeom>
          <a:solidFill>
            <a:srgbClr val="3529D0"/>
          </a:solidFill>
          <a:ln w="12700">
            <a:solidFill>
              <a:srgbClr val="5F80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2542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" y="2761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sprint → Add issues → Start sprint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" y="2944368"/>
            <a:ext cx="27432" cy="237744"/>
          </a:xfrm>
          <a:prstGeom prst="rect">
            <a:avLst/>
          </a:prstGeom>
          <a:solidFill>
            <a:srgbClr val="454D7A">
              <a:alpha val="60000"/>
            </a:srgbClr>
          </a:solidFill>
          <a:ln w="12700">
            <a:solidFill>
              <a:srgbClr val="454D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3200400"/>
            <a:ext cx="402336" cy="402336"/>
          </a:xfrm>
          <a:prstGeom prst="ellipse">
            <a:avLst/>
          </a:prstGeom>
          <a:solidFill>
            <a:srgbClr val="0B0D1A"/>
          </a:solidFill>
          <a:ln w="12700">
            <a:solidFill>
              <a:srgbClr val="454D7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3200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3419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issues ← → through 4 columns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" y="3602736"/>
            <a:ext cx="27432" cy="237744"/>
          </a:xfrm>
          <a:prstGeom prst="rect">
            <a:avLst/>
          </a:prstGeom>
          <a:solidFill>
            <a:srgbClr val="454D7A">
              <a:alpha val="60000"/>
            </a:srgbClr>
          </a:solidFill>
          <a:ln w="12700">
            <a:solidFill>
              <a:srgbClr val="454D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" y="3858768"/>
            <a:ext cx="402336" cy="402336"/>
          </a:xfrm>
          <a:prstGeom prst="ellipse">
            <a:avLst/>
          </a:prstGeom>
          <a:solidFill>
            <a:srgbClr val="0B0D1A"/>
          </a:solidFill>
          <a:ln w="12700">
            <a:solidFill>
              <a:srgbClr val="454D7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47472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" y="3858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" y="4078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issue → bell updates live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" y="4261104"/>
            <a:ext cx="27432" cy="237744"/>
          </a:xfrm>
          <a:prstGeom prst="rect">
            <a:avLst/>
          </a:prstGeom>
          <a:solidFill>
            <a:srgbClr val="454D7A">
              <a:alpha val="60000"/>
            </a:srgbClr>
          </a:solidFill>
          <a:ln w="12700">
            <a:solidFill>
              <a:srgbClr val="454D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47472" y="4517136"/>
            <a:ext cx="402336" cy="402336"/>
          </a:xfrm>
          <a:prstGeom prst="ellipse">
            <a:avLst/>
          </a:prstGeom>
          <a:solidFill>
            <a:srgbClr val="0B0D1A"/>
          </a:solidFill>
          <a:ln w="12700">
            <a:solidFill>
              <a:srgbClr val="454D7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4517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1248" y="4517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1248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user to ADMIN role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5120640" cy="4114800"/>
          </a:xfrm>
          <a:prstGeom prst="rect">
            <a:avLst/>
          </a:prstGeom>
          <a:solidFill>
            <a:srgbClr val="0D1117"/>
          </a:solidFill>
          <a:ln w="12700">
            <a:solidFill>
              <a:srgbClr val="5F80F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896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IssueService.java — Status update with full audit trail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1188720"/>
            <a:ext cx="493776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95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 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updateStatus(Long issueId,
    Issue.IssueStatus newStatus, User changedBy) {
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Write audit trail BEFORE updating
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IssueHistory entry = IssueHistory.</a:t>
            </a:r>
            <a:r>
              <a:rPr lang="en-US" sz="950" dirty="0">
                <a:solidFill>
                  <a:srgbClr val="5F80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builder()
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.issue(issue).changedBy(changedBy)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.fieldName(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  .oldValue(</a:t>
            </a:r>
            <a:r>
              <a:rPr lang="en-US" sz="950" dirty="0">
                <a:solidFill>
                  <a:srgbClr val="19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issue.getStatus().name()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  .newValue(</a:t>
            </a:r>
            <a:r>
              <a:rPr lang="en-US" sz="950" dirty="0">
                <a:solidFill>
                  <a:srgbClr val="19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newStatus.name()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).build();
  historyRepository.</a:t>
            </a:r>
            <a:r>
              <a:rPr lang="en-US" sz="95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save(entry)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Update status
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issue.</a:t>
            </a:r>
            <a:r>
              <a:rPr lang="en-US" sz="95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setStatus(newStatus)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Notify assignee if someone else changed it
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(issue.getAssignee() != null &amp;&amp;
    !issue.getAssignee().getId().equals(
      changedBy.getId())) {
    notificationRepository.</a:t>
            </a:r>
            <a:r>
              <a:rPr lang="en-US" sz="95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save(...)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}
  return issueRepository.</a:t>
            </a:r>
            <a:r>
              <a:rPr lang="en-US" sz="95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save(issue)</a:t>
            </a: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E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841248"/>
            <a:ext cx="3291840" cy="123217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0" y="106871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Audit Trail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333889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writes to issue_history — who changed it, from what, to what.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273418"/>
            <a:ext cx="3291840" cy="123217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0" y="250088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Smart Notifications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766059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notified only when someone ELSE moves the issue — no self-spam.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3705588"/>
            <a:ext cx="3291840" cy="123217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3933053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Role Guards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4198229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bypasses ownership. Reporters can edit their own issues.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Local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1572768" cy="749808"/>
          </a:xfrm>
          <a:prstGeom prst="roundRect">
            <a:avLst>
              <a:gd name="adj" fmla="val 12195"/>
            </a:avLst>
          </a:prstGeom>
          <a:solidFill>
            <a:srgbClr val="0E1020"/>
          </a:solidFill>
          <a:ln w="12700">
            <a:solidFill>
              <a:srgbClr val="5F80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813816"/>
            <a:ext cx="365760" cy="274320"/>
          </a:xfrm>
          <a:prstGeom prst="ellipse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74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15727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98755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39112" y="804672"/>
            <a:ext cx="1572768" cy="749808"/>
          </a:xfrm>
          <a:prstGeom prst="roundRect">
            <a:avLst>
              <a:gd name="adj" fmla="val 12195"/>
            </a:avLst>
          </a:prstGeom>
          <a:solidFill>
            <a:srgbClr val="0E1020"/>
          </a:solidFill>
          <a:ln w="12700">
            <a:solidFill>
              <a:srgbClr val="5F80F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33472" y="813816"/>
            <a:ext cx="365760" cy="274320"/>
          </a:xfrm>
          <a:prstGeom prst="ellipse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15184" y="74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39112" y="987552"/>
            <a:ext cx="15727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validates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93592" y="98755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58184" y="804672"/>
            <a:ext cx="1572768" cy="749808"/>
          </a:xfrm>
          <a:prstGeom prst="roundRect">
            <a:avLst>
              <a:gd name="adj" fmla="val 12195"/>
            </a:avLst>
          </a:prstGeom>
          <a:solidFill>
            <a:srgbClr val="0E1020"/>
          </a:solidFill>
          <a:ln w="12700">
            <a:solidFill>
              <a:srgbClr val="19D9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52544" y="813816"/>
            <a:ext cx="365760" cy="274320"/>
          </a:xfrm>
          <a:prstGeom prst="ellipse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34256" y="74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987552"/>
            <a:ext cx="15727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TTL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12664" y="98755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77256" y="804672"/>
            <a:ext cx="1572768" cy="749808"/>
          </a:xfrm>
          <a:prstGeom prst="roundRect">
            <a:avLst>
              <a:gd name="adj" fmla="val 12195"/>
            </a:avLst>
          </a:prstGeom>
          <a:solidFill>
            <a:srgbClr val="0E1020"/>
          </a:solidFill>
          <a:ln w="12700">
            <a:solidFill>
              <a:srgbClr val="19D9E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71616" y="813816"/>
            <a:ext cx="365760" cy="274320"/>
          </a:xfrm>
          <a:prstGeom prst="ellipse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53328" y="74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77256" y="987552"/>
            <a:ext cx="15727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31736" y="98755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5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14616" y="813816"/>
            <a:ext cx="1572768" cy="749808"/>
          </a:xfrm>
          <a:prstGeom prst="roundRect">
            <a:avLst>
              <a:gd name="adj" fmla="val 12195"/>
            </a:avLst>
          </a:prstGeom>
          <a:solidFill>
            <a:srgbClr val="0E1020"/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90688" y="813816"/>
            <a:ext cx="36576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72400" y="749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96328" y="1024128"/>
            <a:ext cx="157276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JWT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8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21396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5F80F9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2139696"/>
            <a:ext cx="45720" cy="786384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22311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factor 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21396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19D9EF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23160" y="2139696"/>
            <a:ext cx="45720" cy="786384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14600" y="22311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1460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0540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4ADE80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3054096"/>
            <a:ext cx="45720" cy="78638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1455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locked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23160" y="30540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FACC15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423160" y="3054096"/>
            <a:ext cx="45720" cy="78638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14600" y="31455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14600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req/min/IP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9684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0040" y="3968496"/>
            <a:ext cx="45720" cy="7863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4059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370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safe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23160" y="39684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F43F5E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423160" y="3968496"/>
            <a:ext cx="45720" cy="7863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14600" y="4059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514600" y="4370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ever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Local Setup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63440" y="21396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4ADE80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63440" y="2139696"/>
            <a:ext cx="45720" cy="78638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22311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5488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66560" y="21396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19D9EF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66560" y="2139696"/>
            <a:ext cx="45720" cy="786384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58000" y="22311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Cairo.sql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0" y="25420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 + FK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30540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663440" y="3054096"/>
            <a:ext cx="45720" cy="7863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54880" y="31455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seed.sql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54880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users · 14 issues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766560" y="30540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5F80F9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766560" y="3054096"/>
            <a:ext cx="45720" cy="786384"/>
          </a:xfrm>
          <a:prstGeom prst="rect">
            <a:avLst/>
          </a:prstGeom>
          <a:solidFill>
            <a:srgbClr val="5F80F9"/>
          </a:solidFill>
          <a:ln w="12700">
            <a:solidFill>
              <a:srgbClr val="5F80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58000" y="31455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58000" y="34564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39684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FACC15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663440" y="3968496"/>
            <a:ext cx="45720" cy="78638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54880" y="4059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54880" y="4370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66560" y="3968496"/>
            <a:ext cx="1975104" cy="786384"/>
          </a:xfrm>
          <a:prstGeom prst="rect">
            <a:avLst/>
          </a:prstGeom>
          <a:solidFill>
            <a:srgbClr val="0E1020"/>
          </a:solidFill>
          <a:ln w="12700">
            <a:solidFill>
              <a:srgbClr val="F43F5E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766560" y="3968496"/>
            <a:ext cx="45720" cy="7863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58000" y="405993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admin@cairo.com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858000" y="4370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password123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takeaways from </a:t>
            </a:r>
            <a:r>
              <a:rPr lang="en-US" sz="11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7-day sprint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6032" y="1115568"/>
            <a:ext cx="8631936" cy="116000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45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1315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1601600"/>
            <a:ext cx="7918704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Day 1 on the full ERD before writing a single line of code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changed a table during the entire build 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first kept everything organized and simple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455808"/>
            <a:ext cx="8631936" cy="116000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4138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655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Properly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941840"/>
            <a:ext cx="7918704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returned a 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401 — confusing and unprofessional. One extra exception 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fixed it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fix, big difference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796048"/>
            <a:ext cx="8631936" cy="1160000"/>
          </a:xfrm>
          <a:prstGeom prst="rect">
            <a:avLst/>
          </a:prstGeom>
          <a:solidFill>
            <a:srgbClr val="0E1020"/>
          </a:solidFill>
          <a:ln w="12700">
            <a:solidFill>
              <a:srgbClr val="454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798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" y="3996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Tool Fails, Build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4282080"/>
            <a:ext cx="7918704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animation library wouldn’t install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entire canvas animation from scratch — better outcome since every line is understood and fully owned</a:t>
            </a:r>
            <a:r>
              <a:rPr lang="en-US" sz="10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4572000"/>
          </a:xfrm>
          <a:prstGeom prst="ellipse">
            <a:avLst/>
          </a:prstGeom>
          <a:solidFill>
            <a:srgbClr val="3529D0">
              <a:alpha val="12000"/>
            </a:srgbClr>
          </a:solidFill>
          <a:ln w="12700">
            <a:solidFill>
              <a:srgbClr val="3529D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32235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" y="980702"/>
            <a:ext cx="8823960" cy="1536192"/>
          </a:xfrm>
          <a:prstGeom prst="rect">
            <a:avLst/>
          </a:prstGeom>
          <a:solidFill>
            <a:srgbClr val="050A2E"/>
          </a:solidFill>
          <a:ln w="12700">
            <a:solidFill>
              <a:srgbClr val="19D9EF">
                <a:alpha val="7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0020" y="980702"/>
            <a:ext cx="64008" cy="1536192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8036" y="103556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1268" y="103556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Workflow Assistant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1268" y="107214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ENHANCEMENT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1268" y="1437902"/>
            <a:ext cx="7589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AI assistant to help project managers auto-prioritise backlogs, suggest sprint assignments based on team velocity,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bottlenecks in real-time, and summarize stand-up updates automatically from issue history.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" y="2644894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5F80F9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9748" y="2919214"/>
            <a:ext cx="457200" cy="457200"/>
          </a:xfrm>
          <a:prstGeom prst="ellipse">
            <a:avLst/>
          </a:prstGeom>
          <a:solidFill>
            <a:srgbClr val="5F80F9">
              <a:alpha val="50000"/>
            </a:srgbClr>
          </a:solidFill>
          <a:ln w="12700">
            <a:solidFill>
              <a:srgbClr val="5F80F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388" y="277291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" y="308380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iOS &amp; Android client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644894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19D9E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64408" y="2919214"/>
            <a:ext cx="457200" cy="457200"/>
          </a:xfrm>
          <a:prstGeom prst="ellipse">
            <a:avLst/>
          </a:prstGeom>
          <a:solidFill>
            <a:srgbClr val="19D9EF">
              <a:alpha val="50000"/>
            </a:srgbClr>
          </a:solidFill>
          <a:ln w="12700">
            <a:solidFill>
              <a:srgbClr val="19D9E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3048" y="277291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3048" y="308380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instead of polling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9340" y="2644894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59068" y="2919214"/>
            <a:ext cx="457200" cy="457200"/>
          </a:xfrm>
          <a:prstGeom prst="ellipse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07708" y="277291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7708" y="308380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charts &amp; burndowns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" y="3797022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FACC15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9748" y="4071342"/>
            <a:ext cx="457200" cy="457200"/>
          </a:xfrm>
          <a:prstGeom prst="ellipse">
            <a:avLst/>
          </a:prstGeom>
          <a:solidFill>
            <a:srgbClr val="FACC15">
              <a:alpha val="50000"/>
            </a:srgbClr>
          </a:solidFill>
          <a:ln w="12700">
            <a:solidFill>
              <a:srgbClr val="FACC1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" y="392503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" y="423593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Slack, Google Calendar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3797022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4ADE80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64408" y="4071342"/>
            <a:ext cx="457200" cy="457200"/>
          </a:xfrm>
          <a:prstGeom prst="ellipse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0128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13048" y="392503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13048" y="423593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for global distributed teams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9340" y="3797022"/>
            <a:ext cx="2834640" cy="1024128"/>
          </a:xfrm>
          <a:prstGeom prst="rect">
            <a:avLst/>
          </a:prstGeom>
          <a:solidFill>
            <a:srgbClr val="0E1020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59068" y="4071342"/>
            <a:ext cx="457200" cy="457200"/>
          </a:xfrm>
          <a:prstGeom prst="ellipse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54496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07708" y="392503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07708" y="423593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+ RDS + SSM Parameter Store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4114800"/>
          </a:xfrm>
          <a:prstGeom prst="ellipse">
            <a:avLst/>
          </a:prstGeom>
          <a:solidFill>
            <a:srgbClr val="5F80F9">
              <a:alpha val="8000"/>
            </a:srgbClr>
          </a:solidFill>
          <a:ln w="12700">
            <a:solidFill>
              <a:srgbClr val="5F80F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1485900"/>
            <a:ext cx="3657600" cy="3657600"/>
          </a:xfrm>
          <a:prstGeom prst="ellipse">
            <a:avLst/>
          </a:prstGeom>
          <a:solidFill>
            <a:srgbClr val="19D9EF">
              <a:alpha val="8000"/>
            </a:srgbClr>
          </a:solidFill>
          <a:ln w="12700">
            <a:solidFill>
              <a:srgbClr val="19D9E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2560320" y="2331720"/>
            <a:ext cx="4023360" cy="36576"/>
          </a:xfrm>
          <a:prstGeom prst="rect">
            <a:avLst/>
          </a:prstGeom>
          <a:solidFill>
            <a:srgbClr val="19D9EF"/>
          </a:solidFill>
          <a:ln w="12700">
            <a:solidFill>
              <a:srgbClr val="1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— Capstone Project  ·  Maria Aguilar  ·  UCI 2123  · 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E1020"/>
          </a:solidFill>
          <a:ln w="12700">
            <a:solidFill>
              <a:srgbClr val="5F80F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github.com/Mariaa97-rodri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30632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E1020"/>
          </a:solidFill>
          <a:ln w="12700">
            <a:solidFill>
              <a:srgbClr val="5F80F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64992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localhost:5173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98464" y="306324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E1020"/>
          </a:solidFill>
          <a:ln w="12700">
            <a:solidFill>
              <a:srgbClr val="5F80F9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98464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admin@cairo.com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1067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Cairo — Project Management Application</dc:title>
  <dc:subject>PptxGenJS Presentation</dc:subject>
  <dc:creator>Maria Aguilar</dc:creator>
  <cp:lastModifiedBy>Rodriguez, Maria W.</cp:lastModifiedBy>
  <cp:revision>4</cp:revision>
  <dcterms:created xsi:type="dcterms:W3CDTF">2026-04-26T13:12:59Z</dcterms:created>
  <dcterms:modified xsi:type="dcterms:W3CDTF">2026-04-27T20:05:51Z</dcterms:modified>
</cp:coreProperties>
</file>